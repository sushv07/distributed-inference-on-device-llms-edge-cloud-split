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12179300"/>
  <p:notesSz cx="6858000" cy="9144000"/>
  <p:embeddedFontLst>
    <p:embeddedFont>
      <p:font typeface="Helvetica Neue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CF2D79-044B-4F37-AA53-57F7A1D19B0C}">
  <a:tblStyle styleId="{17CF2D79-044B-4F37-AA53-57F7A1D19B0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CFD7E7"/>
          </a:solidFill>
        </a:fill>
      </a:tcStyle>
    </a:wholeTbl>
    <a:band1H>
      <a:tcTxStyle/>
    </a:band1H>
    <a:band2H>
      <a:tcTxStyle b="off" i="off"/>
      <a:tcStyle>
        <a:fill>
          <a:solidFill>
            <a:srgbClr val="E8ECF4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5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7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800"/>
              <a:buChar char="»"/>
              <a:defRPr sz="28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3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5" name="Google Shape;45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 rot="5400000">
            <a:off x="2309018" y="-251618"/>
            <a:ext cx="4525964" cy="8229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 rot="5400000">
            <a:off x="4732337" y="2171700"/>
            <a:ext cx="5851526" cy="2057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 rot="5400000">
            <a:off x="541337" y="190500"/>
            <a:ext cx="5851526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1pPr>
            <a:lvl2pPr indent="-4318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2pPr>
            <a:lvl3pPr indent="-4318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•"/>
              <a:defRPr/>
            </a:lvl3pPr>
            <a:lvl4pPr indent="-4318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–"/>
              <a:defRPr/>
            </a:lvl4pPr>
            <a:lvl5pPr indent="-4318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200"/>
              <a:buChar char="»"/>
              <a:defRPr/>
            </a:lvl5pPr>
            <a:lvl6pPr indent="-4318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6pPr>
            <a:lvl7pPr indent="-4318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7pPr>
            <a:lvl8pPr indent="-4318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8pPr>
            <a:lvl9pPr indent="-4318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11741" y="6461480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11" Type="http://schemas.openxmlformats.org/officeDocument/2006/relationships/image" Target="../media/image24.png"/><Relationship Id="rId10" Type="http://schemas.openxmlformats.org/officeDocument/2006/relationships/image" Target="../media/image28.png"/><Relationship Id="rId9" Type="http://schemas.openxmlformats.org/officeDocument/2006/relationships/image" Target="../media/image30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7.png"/><Relationship Id="rId8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288D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-1" y="6035040"/>
            <a:ext cx="12189000" cy="822900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7772400" y="-1097281"/>
            <a:ext cx="5943600" cy="5943601"/>
          </a:xfrm>
          <a:prstGeom prst="ellipse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502925" y="731519"/>
            <a:ext cx="9966950" cy="866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Distributed Inference for</a:t>
            </a: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502925" y="1600200"/>
            <a:ext cx="9966950" cy="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5200"/>
              <a:buFont typeface="Trebuchet MS"/>
              <a:buNone/>
            </a:pPr>
            <a:r>
              <a:rPr b="1" i="0" lang="en-US" sz="52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On-Device LLMs</a:t>
            </a: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502925" y="2743200"/>
            <a:ext cx="9966950" cy="437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2600"/>
              <a:buFont typeface="Calibri"/>
              <a:buNone/>
            </a:pPr>
            <a:r>
              <a:rPr b="0" i="1" lang="en-US" sz="26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Edge-Cloud Split Execution</a:t>
            </a:r>
            <a:endParaRPr/>
          </a:p>
        </p:txBody>
      </p:sp>
      <p:sp>
        <p:nvSpPr>
          <p:cNvPr id="67" name="Google Shape;67;p13"/>
          <p:cNvSpPr/>
          <p:nvPr/>
        </p:nvSpPr>
        <p:spPr>
          <a:xfrm>
            <a:off x="457200" y="3566159"/>
            <a:ext cx="5486400" cy="36577"/>
          </a:xfrm>
          <a:prstGeom prst="rect">
            <a:avLst/>
          </a:prstGeom>
          <a:solidFill>
            <a:srgbClr val="0288D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02925" y="3749038"/>
            <a:ext cx="10881350" cy="310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Sanjai Kumar Chandra Mohan  &amp;  Sushmitha Vijayakumar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502925" y="4160520"/>
            <a:ext cx="10881350" cy="28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8909C"/>
                </a:solidFill>
                <a:latin typeface="Calibri"/>
                <a:ea typeface="Calibri"/>
                <a:cs typeface="Calibri"/>
                <a:sym typeface="Calibri"/>
              </a:rPr>
              <a:t>CSU Long Beach  |  Project Team - BayLabs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457200" y="4846320"/>
            <a:ext cx="3657600" cy="41148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02925" y="4846320"/>
            <a:ext cx="3566151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SYSTEMS  ·  EDGE COMPUTING  ·  LLMs</a:t>
            </a:r>
            <a:endParaRPr/>
          </a:p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65765" y="91439"/>
            <a:ext cx="1145742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Can't LLMs Just Run on Your Phone?</a:t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320039" y="960119"/>
            <a:ext cx="3474722" cy="4663442"/>
          </a:xfrm>
          <a:prstGeom prst="rect">
            <a:avLst/>
          </a:prstGeom>
          <a:solidFill>
            <a:srgbClr val="FDEDEB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20039" y="960119"/>
            <a:ext cx="3474722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457204" y="1005839"/>
            <a:ext cx="3200392" cy="345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☁  Cloud-Only</a:t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548644" y="1572767"/>
            <a:ext cx="310895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51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1515"/>
                </a:solidFill>
                <a:latin typeface="Calibri"/>
                <a:ea typeface="Calibri"/>
                <a:cs typeface="Calibri"/>
                <a:sym typeface="Calibri"/>
              </a:rPr>
              <a:t>▸  Network latency: 500ms - 2s per query</a:t>
            </a:r>
            <a:endParaRPr/>
          </a:p>
        </p:txBody>
      </p:sp>
      <p:sp>
        <p:nvSpPr>
          <p:cNvPr id="84" name="Google Shape;84;p14"/>
          <p:cNvSpPr txBox="1"/>
          <p:nvPr/>
        </p:nvSpPr>
        <p:spPr>
          <a:xfrm>
            <a:off x="548644" y="1956816"/>
            <a:ext cx="310895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51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1515"/>
                </a:solidFill>
                <a:latin typeface="Calibri"/>
                <a:ea typeface="Calibri"/>
                <a:cs typeface="Calibri"/>
                <a:sym typeface="Calibri"/>
              </a:rPr>
              <a:t>▸  Privacy risk - prompts sent to servers</a:t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548644" y="2340864"/>
            <a:ext cx="310895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51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1515"/>
                </a:solidFill>
                <a:latin typeface="Calibri"/>
                <a:ea typeface="Calibri"/>
                <a:cs typeface="Calibri"/>
                <a:sym typeface="Calibri"/>
              </a:rPr>
              <a:t>▸  High operational cost (per-token billing)</a:t>
            </a:r>
            <a:endParaRPr/>
          </a:p>
        </p:txBody>
      </p:sp>
      <p:sp>
        <p:nvSpPr>
          <p:cNvPr id="86" name="Google Shape;86;p14"/>
          <p:cNvSpPr txBox="1"/>
          <p:nvPr/>
        </p:nvSpPr>
        <p:spPr>
          <a:xfrm>
            <a:off x="548644" y="2724911"/>
            <a:ext cx="310895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151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1515"/>
                </a:solidFill>
                <a:latin typeface="Calibri"/>
                <a:ea typeface="Calibri"/>
                <a:cs typeface="Calibri"/>
                <a:sym typeface="Calibri"/>
              </a:rPr>
              <a:t>▸  Fails without internet connection</a:t>
            </a:r>
            <a:endParaRPr/>
          </a:p>
        </p:txBody>
      </p:sp>
      <p:sp>
        <p:nvSpPr>
          <p:cNvPr id="87" name="Google Shape;87;p14"/>
          <p:cNvSpPr/>
          <p:nvPr/>
        </p:nvSpPr>
        <p:spPr>
          <a:xfrm>
            <a:off x="4169662" y="2926079"/>
            <a:ext cx="822961" cy="822961"/>
          </a:xfrm>
          <a:prstGeom prst="ellipse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4215388" y="2944367"/>
            <a:ext cx="731511" cy="345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VS</a:t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4754879" y="960119"/>
            <a:ext cx="3474721" cy="4663442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4754879" y="960119"/>
            <a:ext cx="3474721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892044" y="1005839"/>
            <a:ext cx="3200391" cy="4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📱  Edge-Only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4983484" y="1572767"/>
            <a:ext cx="310895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Limited reasoning capability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4983484" y="1956816"/>
            <a:ext cx="310895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Poor answers on complex prompts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983484" y="2340864"/>
            <a:ext cx="310895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No multi-step logic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983484" y="2724911"/>
            <a:ext cx="310895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Quality gaps on real queries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8549640" y="2011679"/>
            <a:ext cx="3291841" cy="320040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8686805" y="2331720"/>
            <a:ext cx="3017451" cy="1652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We need BOTH -</a:t>
            </a:r>
            <a:b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intelligently</a:t>
            </a:r>
            <a:b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combined.</a:t>
            </a:r>
            <a:b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A smart router</a:t>
            </a:r>
            <a:b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decides which</a:t>
            </a:r>
            <a:b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path to take.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Edge devices: limited RAM · No GPU · Tight power budget · Billions of LLM parameters</a:t>
            </a:r>
            <a:endParaRPr/>
          </a:p>
        </p:txBody>
      </p:sp>
      <p:pic>
        <p:nvPicPr>
          <p:cNvPr descr="Picture 122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46120"/>
            <a:ext cx="2834640" cy="2148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23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3246120"/>
            <a:ext cx="2834641" cy="21488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124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41080" y="4114800"/>
            <a:ext cx="3017521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Cloud-Only Inference - The Hidden Costs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65759" y="1005839"/>
            <a:ext cx="11457434" cy="120700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365759" y="1005839"/>
            <a:ext cx="164593" cy="1207009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704093" y="1115567"/>
            <a:ext cx="3566151" cy="31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⏱  High Latency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04092" y="1554480"/>
            <a:ext cx="10817343" cy="25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Network round-trip adds 500ms–2 seconds per query. Unusable for real-time voice or interactive assistants.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365759" y="2377439"/>
            <a:ext cx="11457434" cy="120700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365759" y="2377439"/>
            <a:ext cx="164593" cy="1207009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704093" y="2487167"/>
            <a:ext cx="3566151" cy="40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  <a:t>🔒  Privacy Risk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04092" y="2926079"/>
            <a:ext cx="10817343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Sensitive user prompts sent to remote servers. No guarantee of data confidentiality or retention control.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365759" y="3749038"/>
            <a:ext cx="11457434" cy="120701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65759" y="3749038"/>
            <a:ext cx="164593" cy="1207010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704093" y="3858767"/>
            <a:ext cx="3566151" cy="40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Trebuchet MS"/>
                <a:ea typeface="Trebuchet MS"/>
                <a:cs typeface="Trebuchet MS"/>
                <a:sym typeface="Trebuchet MS"/>
              </a:rPr>
              <a:t>💸  Operational Cost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4092" y="4297679"/>
            <a:ext cx="10817451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Cloud APIs charge per token. At scale - millions of queries daily - costs compound into significant spend.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65759" y="5120640"/>
            <a:ext cx="11457434" cy="120700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65759" y="5120640"/>
            <a:ext cx="164593" cy="1207009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04093" y="5230367"/>
            <a:ext cx="3566151" cy="408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📡  No Offline Support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04092" y="5669279"/>
            <a:ext cx="10817343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Zero offline capability. Any network disruption renders the system completely unusable for the end user.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20045" y="6510528"/>
            <a:ext cx="11548862" cy="255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Diagram: User → Internet → ☁ Cloud Server → Response  (long, exposed, expensive path)</a:t>
            </a:r>
            <a:endParaRPr/>
          </a:p>
        </p:txBody>
      </p:sp>
      <p:sp>
        <p:nvSpPr>
          <p:cNvPr id="129" name="Google Shape;129;p15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Edge-Only Inference - The Capability Gap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20040" y="960119"/>
            <a:ext cx="5486401" cy="5394962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20040" y="960119"/>
            <a:ext cx="5486401" cy="502920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457203" y="1014983"/>
            <a:ext cx="5212072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✅  What Edge Models CAN Do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02924" y="1554480"/>
            <a:ext cx="5120752" cy="1195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Simple definitions &amp; lookups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Short factual Q&amp;A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Fast text completions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Offline without internet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Privacy-safe (data stays local)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6263640" y="960119"/>
            <a:ext cx="5486401" cy="5394962"/>
          </a:xfrm>
          <a:prstGeom prst="rect">
            <a:avLst/>
          </a:prstGeom>
          <a:solidFill>
            <a:srgbClr val="FDEDEB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263640" y="960119"/>
            <a:ext cx="5486401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400804" y="1014983"/>
            <a:ext cx="52120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❌  What Edge Models CANNOT Do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446525" y="1554480"/>
            <a:ext cx="5120751" cy="142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A1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A1A1A"/>
                </a:solidFill>
                <a:latin typeface="Calibri"/>
                <a:ea typeface="Calibri"/>
                <a:cs typeface="Calibri"/>
                <a:sym typeface="Calibri"/>
              </a:rPr>
              <a:t>Multi-step logical reasoning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A1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A1A1A"/>
                </a:solidFill>
                <a:latin typeface="Calibri"/>
                <a:ea typeface="Calibri"/>
                <a:cs typeface="Calibri"/>
                <a:sym typeface="Calibri"/>
              </a:rPr>
              <a:t>Complex model comparisons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A1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A1A1A"/>
                </a:solidFill>
                <a:latin typeface="Calibri"/>
                <a:ea typeface="Calibri"/>
                <a:cs typeface="Calibri"/>
                <a:sym typeface="Calibri"/>
              </a:rPr>
              <a:t>Long-form document summarization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A1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A1A1A"/>
                </a:solidFill>
                <a:latin typeface="Calibri"/>
                <a:ea typeface="Calibri"/>
                <a:cs typeface="Calibri"/>
                <a:sym typeface="Calibri"/>
              </a:rPr>
              <a:t>Instruction-following tasks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1A1A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3A1A1A"/>
                </a:solidFill>
                <a:latin typeface="Calibri"/>
                <a:ea typeface="Calibri"/>
                <a:cs typeface="Calibri"/>
                <a:sym typeface="Calibri"/>
              </a:rPr>
              <a:t>Contextual inference over long text</a:t>
            </a:r>
            <a:br>
              <a:rPr b="0" i="0" lang="en-US" sz="1400" u="none" cap="none" strike="noStrike">
                <a:solidFill>
                  <a:srgbClr val="3A1A1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DistilGPT2 (~82M params) is fast - but size comes at the cost of reasoning capability.</a:t>
            </a:r>
            <a:endParaRPr/>
          </a:p>
        </p:txBody>
      </p:sp>
      <p:grpSp>
        <p:nvGrpSpPr>
          <p:cNvPr id="147" name="Google Shape;147;p16"/>
          <p:cNvGrpSpPr/>
          <p:nvPr/>
        </p:nvGrpSpPr>
        <p:grpSpPr>
          <a:xfrm>
            <a:off x="365758" y="2834639"/>
            <a:ext cx="5349244" cy="256034"/>
            <a:chOff x="-1" y="0"/>
            <a:chExt cx="5349242" cy="256032"/>
          </a:xfrm>
        </p:grpSpPr>
        <p:sp>
          <p:nvSpPr>
            <p:cNvPr id="148" name="Google Shape;148;p16"/>
            <p:cNvSpPr/>
            <p:nvPr/>
          </p:nvSpPr>
          <p:spPr>
            <a:xfrm>
              <a:off x="-1" y="0"/>
              <a:ext cx="5349242" cy="256032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6"/>
            <p:cNvSpPr txBox="1"/>
            <p:nvPr/>
          </p:nvSpPr>
          <p:spPr>
            <a:xfrm>
              <a:off x="27431" y="38953"/>
              <a:ext cx="5294377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IDEAL DEVICE TYPES</a:t>
              </a:r>
              <a:endParaRPr/>
            </a:p>
          </p:txBody>
        </p:sp>
      </p:grpSp>
      <p:sp>
        <p:nvSpPr>
          <p:cNvPr id="150" name="Google Shape;150;p16"/>
          <p:cNvSpPr/>
          <p:nvPr/>
        </p:nvSpPr>
        <p:spPr>
          <a:xfrm>
            <a:off x="384047" y="3136392"/>
            <a:ext cx="1709929" cy="74980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75487" y="3163823"/>
            <a:ext cx="1527050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Mobile Phone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75487" y="3419855"/>
            <a:ext cx="1527050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~150ms  |  Offline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2185416" y="3136392"/>
            <a:ext cx="1709929" cy="74980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2276855" y="3163823"/>
            <a:ext cx="1527050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IoT Wearable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2276855" y="3419855"/>
            <a:ext cx="1527050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Always-on  |  Low-power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3986784" y="3136392"/>
            <a:ext cx="1709929" cy="74980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4078223" y="3163823"/>
            <a:ext cx="1527050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Voice Assistant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4078223" y="3419855"/>
            <a:ext cx="1527050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Privacy-safe</a:t>
            </a:r>
            <a:endParaRPr/>
          </a:p>
        </p:txBody>
      </p:sp>
      <p:grpSp>
        <p:nvGrpSpPr>
          <p:cNvPr id="159" name="Google Shape;159;p16"/>
          <p:cNvGrpSpPr/>
          <p:nvPr/>
        </p:nvGrpSpPr>
        <p:grpSpPr>
          <a:xfrm>
            <a:off x="365758" y="4023359"/>
            <a:ext cx="5349244" cy="256034"/>
            <a:chOff x="-1" y="0"/>
            <a:chExt cx="5349242" cy="256032"/>
          </a:xfrm>
        </p:grpSpPr>
        <p:sp>
          <p:nvSpPr>
            <p:cNvPr id="160" name="Google Shape;160;p16"/>
            <p:cNvSpPr/>
            <p:nvPr/>
          </p:nvSpPr>
          <p:spPr>
            <a:xfrm>
              <a:off x="-1" y="0"/>
              <a:ext cx="5349242" cy="256032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6"/>
            <p:cNvSpPr txBox="1"/>
            <p:nvPr/>
          </p:nvSpPr>
          <p:spPr>
            <a:xfrm>
              <a:off x="27431" y="38953"/>
              <a:ext cx="5294377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LATENCY ADVANTAGE</a:t>
              </a:r>
              <a:endParaRPr/>
            </a:p>
          </p:txBody>
        </p:sp>
      </p:grpSp>
      <p:sp>
        <p:nvSpPr>
          <p:cNvPr id="162" name="Google Shape;162;p16"/>
          <p:cNvSpPr/>
          <p:nvPr/>
        </p:nvSpPr>
        <p:spPr>
          <a:xfrm>
            <a:off x="384047" y="4325111"/>
            <a:ext cx="5312666" cy="219457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84047" y="4325111"/>
            <a:ext cx="1371601" cy="219457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402336" y="4325111"/>
            <a:ext cx="2011679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~240ms</a:t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384047" y="4590288"/>
            <a:ext cx="5312666" cy="219457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384047" y="4590288"/>
            <a:ext cx="4572001" cy="219457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402336" y="4590288"/>
            <a:ext cx="2011679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1.5s+</a:t>
            </a:r>
            <a:endParaRPr/>
          </a:p>
        </p:txBody>
      </p:sp>
      <p:grpSp>
        <p:nvGrpSpPr>
          <p:cNvPr id="168" name="Google Shape;168;p16"/>
          <p:cNvGrpSpPr/>
          <p:nvPr/>
        </p:nvGrpSpPr>
        <p:grpSpPr>
          <a:xfrm>
            <a:off x="6309358" y="3063239"/>
            <a:ext cx="5349243" cy="256034"/>
            <a:chOff x="-1" y="0"/>
            <a:chExt cx="5349242" cy="256032"/>
          </a:xfrm>
        </p:grpSpPr>
        <p:sp>
          <p:nvSpPr>
            <p:cNvPr id="169" name="Google Shape;169;p16"/>
            <p:cNvSpPr/>
            <p:nvPr/>
          </p:nvSpPr>
          <p:spPr>
            <a:xfrm>
              <a:off x="-1" y="0"/>
              <a:ext cx="5349242" cy="256032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6"/>
            <p:cNvSpPr txBox="1"/>
            <p:nvPr/>
          </p:nvSpPr>
          <p:spPr>
            <a:xfrm>
              <a:off x="27431" y="38953"/>
              <a:ext cx="5294377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FAILURE MODES WITHOUT CLOUD FALLBACK</a:t>
              </a:r>
              <a:endParaRPr/>
            </a:p>
          </p:txBody>
        </p:sp>
      </p:grpSp>
      <p:sp>
        <p:nvSpPr>
          <p:cNvPr id="171" name="Google Shape;171;p16"/>
          <p:cNvSpPr/>
          <p:nvPr/>
        </p:nvSpPr>
        <p:spPr>
          <a:xfrm>
            <a:off x="6327647" y="3364991"/>
            <a:ext cx="1709929" cy="841249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6428232" y="3383279"/>
            <a:ext cx="1508761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! Hallucination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6428232" y="3639311"/>
            <a:ext cx="1508761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Model invents facts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on complex queries</a:t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8129016" y="3364991"/>
            <a:ext cx="1709929" cy="841249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8229600" y="3383279"/>
            <a:ext cx="1508761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! Truncation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229600" y="3639311"/>
            <a:ext cx="1508761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Short / incomplete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answers to hard tasks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9930383" y="3364991"/>
            <a:ext cx="1709929" cy="841249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0030967" y="3383279"/>
            <a:ext cx="1508761" cy="214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! Repetition Loop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0030967" y="3639311"/>
            <a:ext cx="1508761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Token loops signal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model confusion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6309359" y="4352544"/>
            <a:ext cx="5349241" cy="502920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373367" y="4389120"/>
            <a:ext cx="1371602" cy="366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88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8888"/>
                </a:solidFill>
                <a:latin typeface="Arial"/>
                <a:ea typeface="Arial"/>
                <a:cs typeface="Arial"/>
                <a:sym typeface="Arial"/>
              </a:rPr>
              <a:t>Complex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88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8888"/>
                </a:solidFill>
                <a:latin typeface="Arial"/>
                <a:ea typeface="Arial"/>
                <a:cs typeface="Arial"/>
                <a:sym typeface="Arial"/>
              </a:rPr>
              <a:t>Query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7827264" y="4498847"/>
            <a:ext cx="41148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&gt;&gt;&gt;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8275319" y="4407408"/>
            <a:ext cx="1005840" cy="36576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8321039" y="4407408"/>
            <a:ext cx="914400" cy="226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9326880" y="4498847"/>
            <a:ext cx="411481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&gt;&gt;&gt;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9829800" y="4389120"/>
            <a:ext cx="822961" cy="341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DDFF"/>
                </a:solidFill>
                <a:latin typeface="Arial"/>
                <a:ea typeface="Arial"/>
                <a:cs typeface="Arial"/>
                <a:sym typeface="Arial"/>
              </a:rPr>
              <a:t>Cloud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DDF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DDFF"/>
                </a:solidFill>
                <a:latin typeface="Arial"/>
                <a:ea typeface="Arial"/>
                <a:cs typeface="Arial"/>
                <a:sym typeface="Arial"/>
              </a:rPr>
              <a:t>Fallback</a:t>
            </a:r>
            <a:endParaRPr/>
          </a:p>
        </p:txBody>
      </p:sp>
      <p:sp>
        <p:nvSpPr>
          <p:cNvPr id="187" name="Google Shape;187;p16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7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Hybrid Solution - Best of Both Worlds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320039" y="960119"/>
            <a:ext cx="3566161" cy="521208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320039" y="960119"/>
            <a:ext cx="3566161" cy="594361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457203" y="1005839"/>
            <a:ext cx="3291831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📱  EDGE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457203" y="1572767"/>
            <a:ext cx="3291831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DistilGPT2</a:t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502919" y="1993392"/>
            <a:ext cx="3200401" cy="27433"/>
          </a:xfrm>
          <a:prstGeom prst="rect">
            <a:avLst/>
          </a:prstGeom>
          <a:solidFill>
            <a:srgbClr val="1B5E2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640083" y="2148839"/>
            <a:ext cx="301751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Fast local inference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640083" y="2532888"/>
            <a:ext cx="301751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&lt; 240ms response time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640083" y="2916935"/>
            <a:ext cx="301751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Private: offline-capable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640083" y="3300984"/>
            <a:ext cx="301751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▸  Handles simple prompts</a:t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3959352" y="3383279"/>
            <a:ext cx="411481" cy="54865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3959357" y="3108960"/>
            <a:ext cx="411470" cy="38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4389120" y="960119"/>
            <a:ext cx="3566160" cy="521208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4389120" y="960119"/>
            <a:ext cx="3566160" cy="59436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4526284" y="1005839"/>
            <a:ext cx="3291830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🔀  ROUTER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4526284" y="1572767"/>
            <a:ext cx="3291830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Confidence Check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4572000" y="1993392"/>
            <a:ext cx="3200400" cy="27433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4709165" y="2148839"/>
            <a:ext cx="301751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Evaluates response quality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4709165" y="2532888"/>
            <a:ext cx="301751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Checks length heuristic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4709165" y="2916935"/>
            <a:ext cx="301751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Routes: edge or cloud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4709165" y="3300984"/>
            <a:ext cx="301751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Zero overhead decision</a:t>
            </a:r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8028430" y="3383279"/>
            <a:ext cx="411481" cy="54865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8028436" y="3108960"/>
            <a:ext cx="411470" cy="38533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8458200" y="960119"/>
            <a:ext cx="3566160" cy="5212081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8458200" y="960119"/>
            <a:ext cx="3566160" cy="594361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8595365" y="1005839"/>
            <a:ext cx="3291830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☁  CLOUD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8595365" y="1572767"/>
            <a:ext cx="3291830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8641080" y="1993392"/>
            <a:ext cx="3200401" cy="27433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8778244" y="2148839"/>
            <a:ext cx="301751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Deep reasoning power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8778244" y="2532888"/>
            <a:ext cx="301751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Complex completions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8778244" y="2916935"/>
            <a:ext cx="301751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Multi-step logic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8778244" y="3300984"/>
            <a:ext cx="301751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REST API fallback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Simple prompts stay on edge - complex prompts escalate to cloud - users always get the best result.</a:t>
            </a:r>
            <a:endParaRPr/>
          </a:p>
        </p:txBody>
      </p:sp>
      <p:pic>
        <p:nvPicPr>
          <p:cNvPr descr="Picture 204" id="228" name="Google Shape;2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1" y="3767328"/>
            <a:ext cx="3419857" cy="2286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05" id="229" name="Google Shape;2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271" y="3767328"/>
            <a:ext cx="3419857" cy="2286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206" id="230" name="Google Shape;23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31352" y="3767328"/>
            <a:ext cx="3419857" cy="2286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7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Background - How Transformers Work  (Vaswani et al., 2017)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320040" y="960119"/>
            <a:ext cx="5029201" cy="534924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502925" y="1051560"/>
            <a:ext cx="4663431" cy="307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Trebuchet MS"/>
              <a:buNone/>
            </a:pPr>
            <a:r>
              <a:rPr b="1" i="1" lang="en-US" sz="15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"Attention Is All You Need"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502925" y="1572767"/>
            <a:ext cx="466343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▸  Self-Attention: captures long-range token dependencies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502925" y="1956816"/>
            <a:ext cx="466343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▸  Parallel Processing: all tokens computed simultaneously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502925" y="2340864"/>
            <a:ext cx="466343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▸  Faster than RNNs: no sequential bottleneck</a:t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502925" y="2724911"/>
            <a:ext cx="4663431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▸  Scales to billions of parameters</a:t>
            </a:r>
            <a:endParaRPr/>
          </a:p>
        </p:txBody>
      </p:sp>
      <p:sp>
        <p:nvSpPr>
          <p:cNvPr id="245" name="Google Shape;245;p18"/>
          <p:cNvSpPr txBox="1"/>
          <p:nvPr/>
        </p:nvSpPr>
        <p:spPr>
          <a:xfrm>
            <a:off x="502925" y="3108960"/>
            <a:ext cx="4663431" cy="30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▸  Enables: Q&amp;A, summarization, reasoning, code generation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502925" y="4343400"/>
            <a:ext cx="4663431" cy="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288D1"/>
                </a:solidFill>
                <a:latin typeface="Trebuchet MS"/>
                <a:ea typeface="Trebuchet MS"/>
                <a:cs typeface="Trebuchet MS"/>
                <a:sym typeface="Trebuchet MS"/>
              </a:rPr>
              <a:t>Key innovation over RNNs: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502924" y="4709159"/>
            <a:ext cx="4663552" cy="4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Instead of processing tokens one-by-one, Transformers attend</a:t>
            </a:r>
            <a:b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to ALL tokens simultaneously - enabling massive parallelism.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5760720" y="1005839"/>
            <a:ext cx="5943601" cy="822961"/>
          </a:xfrm>
          <a:prstGeom prst="rect">
            <a:avLst/>
          </a:prstGeom>
          <a:solidFill>
            <a:srgbClr val="E8EAF6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5989324" y="1143000"/>
            <a:ext cx="5486392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Token Input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8503919" y="1828800"/>
            <a:ext cx="54865" cy="256032"/>
          </a:xfrm>
          <a:prstGeom prst="rect">
            <a:avLst/>
          </a:prstGeom>
          <a:solidFill>
            <a:srgbClr val="546E7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760720" y="2084832"/>
            <a:ext cx="5943601" cy="822961"/>
          </a:xfrm>
          <a:prstGeom prst="rect">
            <a:avLst/>
          </a:prstGeom>
          <a:solidFill>
            <a:srgbClr val="E8EAF6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5989324" y="2221992"/>
            <a:ext cx="5486392" cy="332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Embeddings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8503919" y="2907792"/>
            <a:ext cx="54865" cy="256033"/>
          </a:xfrm>
          <a:prstGeom prst="rect">
            <a:avLst/>
          </a:prstGeom>
          <a:solidFill>
            <a:srgbClr val="546E7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5760720" y="3163823"/>
            <a:ext cx="5943601" cy="82296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760720" y="3163823"/>
            <a:ext cx="137161" cy="822961"/>
          </a:xfrm>
          <a:prstGeom prst="rect">
            <a:avLst/>
          </a:prstGeom>
          <a:solidFill>
            <a:srgbClr val="0288D1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5989324" y="3300984"/>
            <a:ext cx="5486392" cy="332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288D1"/>
                </a:solidFill>
                <a:latin typeface="Trebuchet MS"/>
                <a:ea typeface="Trebuchet MS"/>
                <a:cs typeface="Trebuchet MS"/>
                <a:sym typeface="Trebuchet MS"/>
              </a:rPr>
              <a:t>Multi-Head Attention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8503919" y="3986784"/>
            <a:ext cx="54865" cy="256033"/>
          </a:xfrm>
          <a:prstGeom prst="rect">
            <a:avLst/>
          </a:prstGeom>
          <a:solidFill>
            <a:srgbClr val="546E7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5760720" y="4242815"/>
            <a:ext cx="5943601" cy="822961"/>
          </a:xfrm>
          <a:prstGeom prst="rect">
            <a:avLst/>
          </a:prstGeom>
          <a:solidFill>
            <a:srgbClr val="E8EAF6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5989324" y="4379976"/>
            <a:ext cx="5486392" cy="332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Feed-Forward Network</a:t>
            </a:r>
            <a:endParaRPr/>
          </a:p>
        </p:txBody>
      </p:sp>
      <p:sp>
        <p:nvSpPr>
          <p:cNvPr id="260" name="Google Shape;260;p18"/>
          <p:cNvSpPr/>
          <p:nvPr/>
        </p:nvSpPr>
        <p:spPr>
          <a:xfrm>
            <a:off x="8503919" y="5065776"/>
            <a:ext cx="54865" cy="256033"/>
          </a:xfrm>
          <a:prstGeom prst="rect">
            <a:avLst/>
          </a:prstGeom>
          <a:solidFill>
            <a:srgbClr val="546E7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5760720" y="5321808"/>
            <a:ext cx="5943601" cy="822961"/>
          </a:xfrm>
          <a:prstGeom prst="rect">
            <a:avLst/>
          </a:prstGeom>
          <a:solidFill>
            <a:srgbClr val="E8EAF6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5989324" y="5458967"/>
            <a:ext cx="5486392" cy="332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rebuchet MS"/>
              <a:buNone/>
            </a:pPr>
            <a:r>
              <a:rPr b="0" i="0" lang="en-US" sz="16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Output Layer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>
            <a:off x="9921244" y="2743200"/>
            <a:ext cx="1554471" cy="228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88D1"/>
                </a:solidFill>
                <a:latin typeface="Calibri"/>
                <a:ea typeface="Calibri"/>
                <a:cs typeface="Calibri"/>
                <a:sym typeface="Calibri"/>
              </a:rPr>
              <a:t>← Key Innovation</a:t>
            </a:r>
            <a:endParaRPr/>
          </a:p>
        </p:txBody>
      </p:sp>
      <p:sp>
        <p:nvSpPr>
          <p:cNvPr id="264" name="Google Shape;264;p18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9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LLM Landscape - Size vs. Capability vs. Latency</a:t>
            </a:r>
            <a:endParaRPr/>
          </a:p>
        </p:txBody>
      </p:sp>
      <p:graphicFrame>
        <p:nvGraphicFramePr>
          <p:cNvPr id="272" name="Google Shape;272;p19"/>
          <p:cNvGraphicFramePr/>
          <p:nvPr/>
        </p:nvGraphicFramePr>
        <p:xfrm>
          <a:off x="320040" y="960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{17CF2D79-044B-4F37-AA53-57F7A1D19B0C}</a:tableStyleId>
              </a:tblPr>
              <a:tblGrid>
                <a:gridCol w="2555050"/>
                <a:gridCol w="1839650"/>
                <a:gridCol w="2044050"/>
                <a:gridCol w="511012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Model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Parameters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Runs 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Best For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B1FA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7B1FA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&gt;1T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 reasoning, generation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GPT-4o-mini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65C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565C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~8B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API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Efficient cloud inference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GPT-2 (full)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3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83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117M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GPU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 text generation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DistilGPT2 ★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82M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/ Edge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Fast on-device inference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DistilBERT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66M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/ Edge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Classification, NLU tasks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273" name="Google Shape;273;p19"/>
          <p:cNvSpPr/>
          <p:nvPr/>
        </p:nvSpPr>
        <p:spPr>
          <a:xfrm>
            <a:off x="320040" y="4846320"/>
            <a:ext cx="11548872" cy="160020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502925" y="4919471"/>
            <a:ext cx="3108950" cy="307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Trade-off Triangle</a:t>
            </a:r>
            <a:endParaRPr/>
          </a:p>
        </p:txBody>
      </p:sp>
      <p:sp>
        <p:nvSpPr>
          <p:cNvPr id="275" name="Google Shape;275;p19"/>
          <p:cNvSpPr txBox="1"/>
          <p:nvPr/>
        </p:nvSpPr>
        <p:spPr>
          <a:xfrm>
            <a:off x="502924" y="5321808"/>
            <a:ext cx="11274651" cy="46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Model Size ↑  →  Capability ↑  →  Latency ↑  →  Cost ↑</a:t>
            </a:r>
            <a:b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Our approach: use the right model for the right query - optimizing all three simultaneously.</a:t>
            </a:r>
            <a:endParaRPr/>
          </a:p>
        </p:txBody>
      </p:sp>
      <p:sp>
        <p:nvSpPr>
          <p:cNvPr id="276" name="Google Shape;276;p19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Edge Computing Paradigm - Bring Compute Closer to the User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320040" y="960119"/>
            <a:ext cx="5029201" cy="534924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502925" y="1051560"/>
            <a:ext cx="4663431" cy="307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Traditional Cloud Model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502924" y="1444752"/>
            <a:ext cx="4663552" cy="46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Every query travels to central servers - high latency, bandwidth cost, privacy risk. Data leaves the device.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502925" y="2395727"/>
            <a:ext cx="4663431" cy="307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Edge Computing Model</a:t>
            </a:r>
            <a:endParaRPr/>
          </a:p>
        </p:txBody>
      </p:sp>
      <p:sp>
        <p:nvSpPr>
          <p:cNvPr id="288" name="Google Shape;288;p20"/>
          <p:cNvSpPr txBox="1"/>
          <p:nvPr/>
        </p:nvSpPr>
        <p:spPr>
          <a:xfrm>
            <a:off x="502924" y="2788920"/>
            <a:ext cx="4663552" cy="46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Processing happens at or near the user device - data stays local, responses are faster, privacy is preserved.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502925" y="3794759"/>
            <a:ext cx="46634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Key Benefits:</a:t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457200" y="4224528"/>
            <a:ext cx="2194561" cy="45720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502924" y="4224528"/>
            <a:ext cx="2103111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Latency</a:t>
            </a:r>
            <a:endParaRPr/>
          </a:p>
        </p:txBody>
      </p:sp>
      <p:sp>
        <p:nvSpPr>
          <p:cNvPr id="292" name="Google Shape;292;p20"/>
          <p:cNvSpPr/>
          <p:nvPr/>
        </p:nvSpPr>
        <p:spPr>
          <a:xfrm>
            <a:off x="2834639" y="4224528"/>
            <a:ext cx="2194561" cy="45720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2880364" y="4224528"/>
            <a:ext cx="2103111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Privacy-First</a:t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457200" y="4818888"/>
            <a:ext cx="2194561" cy="4572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502924" y="4818888"/>
            <a:ext cx="2103111" cy="25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Offline Support</a:t>
            </a:r>
            <a:endParaRPr/>
          </a:p>
        </p:txBody>
      </p:sp>
      <p:sp>
        <p:nvSpPr>
          <p:cNvPr id="296" name="Google Shape;296;p20"/>
          <p:cNvSpPr/>
          <p:nvPr/>
        </p:nvSpPr>
        <p:spPr>
          <a:xfrm>
            <a:off x="2834639" y="4818888"/>
            <a:ext cx="2194561" cy="457201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2880364" y="4818888"/>
            <a:ext cx="2103111" cy="25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 Savings</a:t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5715000" y="960119"/>
            <a:ext cx="6126480" cy="1828801"/>
          </a:xfrm>
          <a:prstGeom prst="rect">
            <a:avLst/>
          </a:prstGeom>
          <a:solidFill>
            <a:srgbClr val="E8EAF6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5852165" y="1143000"/>
            <a:ext cx="5852151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☁  Central Cloud Server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5852165" y="1554480"/>
            <a:ext cx="5852151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High capability, high latency</a:t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5715000" y="3108960"/>
            <a:ext cx="2743200" cy="150876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 txBox="1"/>
          <p:nvPr/>
        </p:nvSpPr>
        <p:spPr>
          <a:xfrm>
            <a:off x="5852165" y="3273552"/>
            <a:ext cx="24688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📱  Mobile Device</a:t>
            </a:r>
            <a:endParaRPr/>
          </a:p>
        </p:txBody>
      </p:sp>
      <p:sp>
        <p:nvSpPr>
          <p:cNvPr id="303" name="Google Shape;303;p20"/>
          <p:cNvSpPr txBox="1"/>
          <p:nvPr/>
        </p:nvSpPr>
        <p:spPr>
          <a:xfrm>
            <a:off x="5852165" y="3749038"/>
            <a:ext cx="2468871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~150ms local</a:t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8595359" y="3108960"/>
            <a:ext cx="2743201" cy="150876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8732525" y="3273552"/>
            <a:ext cx="24688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⌚  Wearable IoT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8732525" y="3749038"/>
            <a:ext cx="2468871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Always-on</a:t>
            </a:r>
            <a:endParaRPr/>
          </a:p>
        </p:txBody>
      </p:sp>
      <p:sp>
        <p:nvSpPr>
          <p:cNvPr id="307" name="Google Shape;307;p20"/>
          <p:cNvSpPr/>
          <p:nvPr/>
        </p:nvSpPr>
        <p:spPr>
          <a:xfrm>
            <a:off x="5715000" y="4846320"/>
            <a:ext cx="2743200" cy="150876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0"/>
          <p:cNvSpPr txBox="1"/>
          <p:nvPr/>
        </p:nvSpPr>
        <p:spPr>
          <a:xfrm>
            <a:off x="5852165" y="5010911"/>
            <a:ext cx="24688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🚗  Autonomous Car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5852165" y="5486400"/>
            <a:ext cx="2468871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8595359" y="4846320"/>
            <a:ext cx="2743201" cy="150876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8732525" y="5010911"/>
            <a:ext cx="24688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🏥  Medical Device</a:t>
            </a:r>
            <a:endParaRPr/>
          </a:p>
        </p:txBody>
      </p:sp>
      <p:sp>
        <p:nvSpPr>
          <p:cNvPr id="312" name="Google Shape;312;p20"/>
          <p:cNvSpPr txBox="1"/>
          <p:nvPr/>
        </p:nvSpPr>
        <p:spPr>
          <a:xfrm>
            <a:off x="8732525" y="5486400"/>
            <a:ext cx="2468871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Privacy-safe</a:t>
            </a:r>
            <a:endParaRPr/>
          </a:p>
        </p:txBody>
      </p:sp>
      <p:sp>
        <p:nvSpPr>
          <p:cNvPr id="313" name="Google Shape;313;p20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Use cases: wearables · mobile assistants · IoT sensors · autonomous vehicles · medical devices</a:t>
            </a:r>
            <a:endParaRPr/>
          </a:p>
        </p:txBody>
      </p:sp>
      <p:sp>
        <p:nvSpPr>
          <p:cNvPr id="315" name="Google Shape;315;p20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"/>
          <p:cNvSpPr/>
          <p:nvPr/>
        </p:nvSpPr>
        <p:spPr>
          <a:xfrm>
            <a:off x="-1" y="-2540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3 - Cloud Inference with GPT-4o-mini</a:t>
            </a:r>
            <a:endParaRPr/>
          </a:p>
        </p:txBody>
      </p:sp>
      <p:sp>
        <p:nvSpPr>
          <p:cNvPr id="323" name="Google Shape;323;p21"/>
          <p:cNvSpPr/>
          <p:nvPr/>
        </p:nvSpPr>
        <p:spPr>
          <a:xfrm>
            <a:off x="320040" y="1005839"/>
            <a:ext cx="2011679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365765" y="1005839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2468884" y="1078991"/>
            <a:ext cx="3108951" cy="27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320040" y="2103120"/>
            <a:ext cx="2011679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365765" y="2103120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Access Method</a:t>
            </a:r>
            <a:endParaRPr/>
          </a:p>
        </p:txBody>
      </p:sp>
      <p:sp>
        <p:nvSpPr>
          <p:cNvPr id="328" name="Google Shape;328;p21"/>
          <p:cNvSpPr txBox="1"/>
          <p:nvPr/>
        </p:nvSpPr>
        <p:spPr>
          <a:xfrm>
            <a:off x="2468884" y="2176272"/>
            <a:ext cx="3108951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REST API</a:t>
            </a:r>
            <a:endParaRPr/>
          </a:p>
        </p:txBody>
      </p:sp>
      <p:sp>
        <p:nvSpPr>
          <p:cNvPr id="329" name="Google Shape;329;p21"/>
          <p:cNvSpPr/>
          <p:nvPr/>
        </p:nvSpPr>
        <p:spPr>
          <a:xfrm>
            <a:off x="320040" y="3200400"/>
            <a:ext cx="2011679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365765" y="3200400"/>
            <a:ext cx="1920229" cy="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Added Latency</a:t>
            </a:r>
            <a:endParaRPr/>
          </a:p>
        </p:txBody>
      </p:sp>
      <p:sp>
        <p:nvSpPr>
          <p:cNvPr id="331" name="Google Shape;331;p21"/>
          <p:cNvSpPr txBox="1"/>
          <p:nvPr/>
        </p:nvSpPr>
        <p:spPr>
          <a:xfrm>
            <a:off x="2468884" y="3273552"/>
            <a:ext cx="3108951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+600–700ms</a:t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320040" y="4297679"/>
            <a:ext cx="2011679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365765" y="4297679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Trigger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2468884" y="4370830"/>
            <a:ext cx="3108951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Short edge output</a:t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320040" y="5394959"/>
            <a:ext cx="2011679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365765" y="5394959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Cost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2468884" y="5468111"/>
            <a:ext cx="3108951" cy="27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Pay-per-token</a:t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6400800" y="960119"/>
            <a:ext cx="5440680" cy="5349242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6400800" y="960119"/>
            <a:ext cx="5440680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537965" y="1014983"/>
            <a:ext cx="5166351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GPT-4o-mini Handles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6583684" y="1586156"/>
            <a:ext cx="5074852" cy="1423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Multi-step logical reasoning chains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Complex model comparisons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Long-form document summarization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Instruction-following &amp; directive prompts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Contextual inference over long passages</a:t>
            </a:r>
            <a:endParaRPr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Char char="●"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Any prompt the edge model can't complete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API-based integration: scalable, maintainable - no hardware upgrades required on the device side.</a:t>
            </a:r>
            <a:endParaRPr/>
          </a:p>
        </p:txBody>
      </p:sp>
      <p:grpSp>
        <p:nvGrpSpPr>
          <p:cNvPr id="344" name="Google Shape;344;p21"/>
          <p:cNvGrpSpPr/>
          <p:nvPr/>
        </p:nvGrpSpPr>
        <p:grpSpPr>
          <a:xfrm>
            <a:off x="6473951" y="3730752"/>
            <a:ext cx="5285235" cy="256034"/>
            <a:chOff x="-1" y="0"/>
            <a:chExt cx="5285234" cy="256032"/>
          </a:xfrm>
        </p:grpSpPr>
        <p:sp>
          <p:nvSpPr>
            <p:cNvPr id="345" name="Google Shape;345;p21"/>
            <p:cNvSpPr/>
            <p:nvPr/>
          </p:nvSpPr>
          <p:spPr>
            <a:xfrm>
              <a:off x="-1" y="0"/>
              <a:ext cx="5285234" cy="256032"/>
            </a:xfrm>
            <a:prstGeom prst="rect">
              <a:avLst/>
            </a:prstGeom>
            <a:solidFill>
              <a:srgbClr val="7B1FA2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1"/>
            <p:cNvSpPr txBox="1"/>
            <p:nvPr/>
          </p:nvSpPr>
          <p:spPr>
            <a:xfrm>
              <a:off x="27431" y="38953"/>
              <a:ext cx="5230369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HOW THE CLOUD API CALL WORKS</a:t>
              </a:r>
              <a:endParaRPr/>
            </a:p>
          </p:txBody>
        </p:sp>
      </p:grpSp>
      <p:sp>
        <p:nvSpPr>
          <p:cNvPr id="347" name="Google Shape;347;p21"/>
          <p:cNvSpPr/>
          <p:nvPr/>
        </p:nvSpPr>
        <p:spPr>
          <a:xfrm>
            <a:off x="6492240" y="4041647"/>
            <a:ext cx="1207009" cy="658369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574535" y="4059935"/>
            <a:ext cx="1042417" cy="341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Edge output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too short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7699247" y="4315967"/>
            <a:ext cx="128017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7827263" y="4041647"/>
            <a:ext cx="1207009" cy="658369"/>
          </a:xfrm>
          <a:prstGeom prst="rect">
            <a:avLst/>
          </a:prstGeom>
          <a:solidFill>
            <a:srgbClr val="FFFDE7"/>
          </a:solidFill>
          <a:ln cap="flat" cmpd="sng" w="95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7909559" y="4059935"/>
            <a:ext cx="1042417" cy="341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Router sends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65100"/>
                </a:solidFill>
                <a:latin typeface="Arial"/>
                <a:ea typeface="Arial"/>
                <a:cs typeface="Arial"/>
                <a:sym typeface="Arial"/>
              </a:rPr>
              <a:t>POST /v1</a:t>
            </a:r>
            <a:endParaRPr/>
          </a:p>
        </p:txBody>
      </p:sp>
      <p:sp>
        <p:nvSpPr>
          <p:cNvPr id="352" name="Google Shape;352;p21"/>
          <p:cNvSpPr txBox="1"/>
          <p:nvPr/>
        </p:nvSpPr>
        <p:spPr>
          <a:xfrm>
            <a:off x="9034271" y="4315967"/>
            <a:ext cx="128017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9162288" y="4041647"/>
            <a:ext cx="1207009" cy="658369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9244583" y="4059935"/>
            <a:ext cx="1042417" cy="341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GPT-4o-mini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processes</a:t>
            </a:r>
            <a:endParaRPr/>
          </a:p>
        </p:txBody>
      </p:sp>
      <p:sp>
        <p:nvSpPr>
          <p:cNvPr id="355" name="Google Shape;355;p21"/>
          <p:cNvSpPr txBox="1"/>
          <p:nvPr/>
        </p:nvSpPr>
        <p:spPr>
          <a:xfrm>
            <a:off x="10369295" y="4315967"/>
            <a:ext cx="128017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10497311" y="4041647"/>
            <a:ext cx="1207009" cy="658369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10579607" y="4059935"/>
            <a:ext cx="1042417" cy="341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Streams back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6473952" y="4773167"/>
            <a:ext cx="5285233" cy="256033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6537959" y="4782311"/>
            <a:ext cx="5157217" cy="202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+600–700 ms latency   |   Pay-per-token   |   No hardware required</a:t>
            </a:r>
            <a:endParaRPr/>
          </a:p>
        </p:txBody>
      </p:sp>
      <p:sp>
        <p:nvSpPr>
          <p:cNvPr id="360" name="Google Shape;360;p21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2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Architecture - Three Modules, One Intelligent Pipeline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228600" y="960119"/>
            <a:ext cx="1554481" cy="1005840"/>
          </a:xfrm>
          <a:prstGeom prst="rect">
            <a:avLst/>
          </a:prstGeom>
          <a:solidFill>
            <a:srgbClr val="EDE7F6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 txBox="1"/>
          <p:nvPr/>
        </p:nvSpPr>
        <p:spPr>
          <a:xfrm>
            <a:off x="274324" y="1115567"/>
            <a:ext cx="1463031" cy="561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👤 User</a:t>
            </a:r>
            <a:br>
              <a:rPr b="1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Prompt</a:t>
            </a:r>
            <a:endParaRPr/>
          </a:p>
        </p:txBody>
      </p:sp>
      <p:sp>
        <p:nvSpPr>
          <p:cNvPr id="370" name="Google Shape;370;p22"/>
          <p:cNvSpPr txBox="1"/>
          <p:nvPr/>
        </p:nvSpPr>
        <p:spPr>
          <a:xfrm>
            <a:off x="1847092" y="1389888"/>
            <a:ext cx="320031" cy="34014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2212848" y="960119"/>
            <a:ext cx="1828801" cy="5349242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2"/>
          <p:cNvSpPr/>
          <p:nvPr/>
        </p:nvSpPr>
        <p:spPr>
          <a:xfrm>
            <a:off x="2212848" y="960119"/>
            <a:ext cx="1828801" cy="4572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2304292" y="1005839"/>
            <a:ext cx="1645911" cy="2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1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2304292" y="1481327"/>
            <a:ext cx="1645911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Edge Inference</a:t>
            </a:r>
            <a:br>
              <a:rPr b="1" i="0" lang="en-US" sz="12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12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DistilGPT2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2368300" y="2304288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▸  CPU inference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2368300" y="2670048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▸  82M params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2368300" y="3035807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▸  ~120–240ms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2368300" y="3401567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▸  No internet</a:t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4224528" y="960119"/>
            <a:ext cx="1828801" cy="534924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4224528" y="960119"/>
            <a:ext cx="1828801" cy="45720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2"/>
          <p:cNvSpPr txBox="1"/>
          <p:nvPr/>
        </p:nvSpPr>
        <p:spPr>
          <a:xfrm>
            <a:off x="4315972" y="1005839"/>
            <a:ext cx="1645911" cy="2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2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4315972" y="1481327"/>
            <a:ext cx="1645911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Routing</a:t>
            </a:r>
            <a:br>
              <a:rPr b="1" i="0" lang="en-US" sz="12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12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Module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4379981" y="2304288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Evaluates output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4379981" y="2670048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Length heuristic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4379981" y="3035807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Repetition check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4379981" y="3401567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▸  Route decision</a:t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6236208" y="960119"/>
            <a:ext cx="1828801" cy="5349242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6236208" y="960119"/>
            <a:ext cx="1828801" cy="457201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6327653" y="1005839"/>
            <a:ext cx="1645911" cy="2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3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6327653" y="1481327"/>
            <a:ext cx="1645911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  <a:t>Cloud Inference</a:t>
            </a:r>
            <a:br>
              <a:rPr b="1" i="0" lang="en-US" sz="12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12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  <a:t>GPT-4o-mini</a:t>
            </a:r>
            <a:endParaRPr/>
          </a:p>
        </p:txBody>
      </p:sp>
      <p:sp>
        <p:nvSpPr>
          <p:cNvPr id="391" name="Google Shape;391;p22"/>
          <p:cNvSpPr txBox="1"/>
          <p:nvPr/>
        </p:nvSpPr>
        <p:spPr>
          <a:xfrm>
            <a:off x="6391661" y="2304288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REST API call</a:t>
            </a:r>
            <a:endParaRPr/>
          </a:p>
        </p:txBody>
      </p:sp>
      <p:sp>
        <p:nvSpPr>
          <p:cNvPr id="392" name="Google Shape;392;p22"/>
          <p:cNvSpPr txBox="1"/>
          <p:nvPr/>
        </p:nvSpPr>
        <p:spPr>
          <a:xfrm>
            <a:off x="6391661" y="2670048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Deep reasoning</a:t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6391661" y="3035807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+600–700ms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6391661" y="3401567"/>
            <a:ext cx="1536183" cy="261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▸  Complex tasks</a:t>
            </a:r>
            <a:endParaRPr/>
          </a:p>
        </p:txBody>
      </p:sp>
      <p:sp>
        <p:nvSpPr>
          <p:cNvPr id="395" name="Google Shape;395;p22"/>
          <p:cNvSpPr txBox="1"/>
          <p:nvPr/>
        </p:nvSpPr>
        <p:spPr>
          <a:xfrm>
            <a:off x="4087372" y="3200400"/>
            <a:ext cx="109720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96" name="Google Shape;396;p22"/>
          <p:cNvSpPr txBox="1"/>
          <p:nvPr/>
        </p:nvSpPr>
        <p:spPr>
          <a:xfrm>
            <a:off x="6099053" y="3200400"/>
            <a:ext cx="109719" cy="333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8275319" y="960119"/>
            <a:ext cx="3703321" cy="534924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8275319" y="960119"/>
            <a:ext cx="3703321" cy="4114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8394196" y="1005839"/>
            <a:ext cx="3465652" cy="396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Distributed Edge–Cloud Split Inference Architecture</a:t>
            </a:r>
            <a:endParaRPr/>
          </a:p>
        </p:txBody>
      </p:sp>
      <p:sp>
        <p:nvSpPr>
          <p:cNvPr id="400" name="Google Shape;400;p22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320044" y="6510528"/>
            <a:ext cx="11548851" cy="32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✅ Final Response to User -  from Edge (fast) or Cloud (complete), whichever serves best</a:t>
            </a:r>
            <a:endParaRPr/>
          </a:p>
        </p:txBody>
      </p:sp>
      <p:grpSp>
        <p:nvGrpSpPr>
          <p:cNvPr id="402" name="Google Shape;402;p22"/>
          <p:cNvGrpSpPr/>
          <p:nvPr/>
        </p:nvGrpSpPr>
        <p:grpSpPr>
          <a:xfrm>
            <a:off x="8348474" y="1554500"/>
            <a:ext cx="3557102" cy="3678477"/>
            <a:chOff x="0" y="0"/>
            <a:chExt cx="3557100" cy="3678476"/>
          </a:xfrm>
        </p:grpSpPr>
        <p:sp>
          <p:nvSpPr>
            <p:cNvPr id="403" name="Google Shape;403;p22"/>
            <p:cNvSpPr/>
            <p:nvPr/>
          </p:nvSpPr>
          <p:spPr>
            <a:xfrm>
              <a:off x="0" y="0"/>
              <a:ext cx="3557100" cy="36784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3.png" id="404" name="Google Shape;404;p22"/>
            <p:cNvPicPr preferRelativeResize="0"/>
            <p:nvPr/>
          </p:nvPicPr>
          <p:blipFill rotWithShape="1">
            <a:blip r:embed="rId3">
              <a:alphaModFix/>
            </a:blip>
            <a:srcRect b="4897" l="0" r="0" t="0"/>
            <a:stretch/>
          </p:blipFill>
          <p:spPr>
            <a:xfrm>
              <a:off x="0" y="0"/>
              <a:ext cx="3557100" cy="3678476"/>
            </a:xfrm>
            <a:prstGeom prst="rect">
              <a:avLst/>
            </a:prstGeom>
            <a:noFill/>
            <a:ln cap="flat" cmpd="sng" w="9525">
              <a:solidFill>
                <a:srgbClr val="C5D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</p:pic>
      </p:grpSp>
      <p:pic>
        <p:nvPicPr>
          <p:cNvPr descr="Picture 355" id="405" name="Google Shape;40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4872" y="3886200"/>
            <a:ext cx="1444753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56" id="406" name="Google Shape;40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552" y="3886200"/>
            <a:ext cx="1444753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357" id="407" name="Google Shape;40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8232" y="3886200"/>
            <a:ext cx="1444753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3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1 - Edge Inference with DistilGPT2</a:t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320040" y="960119"/>
            <a:ext cx="2743201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3"/>
          <p:cNvSpPr/>
          <p:nvPr/>
        </p:nvSpPr>
        <p:spPr>
          <a:xfrm>
            <a:off x="320040" y="960119"/>
            <a:ext cx="2743201" cy="36576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3"/>
          <p:cNvSpPr txBox="1"/>
          <p:nvPr/>
        </p:nvSpPr>
        <p:spPr>
          <a:xfrm>
            <a:off x="365765" y="1371600"/>
            <a:ext cx="2651750" cy="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82M</a:t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365765" y="2148839"/>
            <a:ext cx="2651750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Parameters</a:t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3246120" y="960119"/>
            <a:ext cx="2743201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3"/>
          <p:cNvSpPr/>
          <p:nvPr/>
        </p:nvSpPr>
        <p:spPr>
          <a:xfrm>
            <a:off x="3246120" y="960119"/>
            <a:ext cx="2743201" cy="36576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3291845" y="1371600"/>
            <a:ext cx="2651751" cy="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CPU</a:t>
            </a:r>
            <a:endParaRPr/>
          </a:p>
        </p:txBody>
      </p:sp>
      <p:sp>
        <p:nvSpPr>
          <p:cNvPr id="423" name="Google Shape;423;p23"/>
          <p:cNvSpPr txBox="1"/>
          <p:nvPr/>
        </p:nvSpPr>
        <p:spPr>
          <a:xfrm>
            <a:off x="3291845" y="2148839"/>
            <a:ext cx="2651751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 GPU Required</a:t>
            </a:r>
            <a:endParaRPr/>
          </a:p>
        </p:txBody>
      </p:sp>
      <p:sp>
        <p:nvSpPr>
          <p:cNvPr id="424" name="Google Shape;424;p23"/>
          <p:cNvSpPr/>
          <p:nvPr/>
        </p:nvSpPr>
        <p:spPr>
          <a:xfrm>
            <a:off x="6172200" y="960119"/>
            <a:ext cx="2743200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6172200" y="960119"/>
            <a:ext cx="2743200" cy="36576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6217925" y="1371600"/>
            <a:ext cx="2651751" cy="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00838F"/>
                </a:solidFill>
                <a:latin typeface="Trebuchet MS"/>
                <a:ea typeface="Trebuchet MS"/>
                <a:cs typeface="Trebuchet MS"/>
                <a:sym typeface="Trebuchet MS"/>
              </a:rPr>
              <a:t>~180ms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6217925" y="2148839"/>
            <a:ext cx="2651751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Avg Latency</a:t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9098280" y="960119"/>
            <a:ext cx="2743201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9098280" y="960119"/>
            <a:ext cx="2743201" cy="365761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9144005" y="1371600"/>
            <a:ext cx="2651751" cy="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E65100"/>
                </a:solidFill>
                <a:latin typeface="Trebuchet MS"/>
                <a:ea typeface="Trebuchet MS"/>
                <a:cs typeface="Trebuchet MS"/>
                <a:sym typeface="Trebuchet MS"/>
              </a:rPr>
              <a:t>0%</a:t>
            </a:r>
            <a:endParaRPr/>
          </a:p>
        </p:txBody>
      </p:sp>
      <p:sp>
        <p:nvSpPr>
          <p:cNvPr id="431" name="Google Shape;431;p23"/>
          <p:cNvSpPr txBox="1"/>
          <p:nvPr/>
        </p:nvSpPr>
        <p:spPr>
          <a:xfrm>
            <a:off x="9144005" y="2148839"/>
            <a:ext cx="2651751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Cloud Dependency</a:t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320040" y="3017520"/>
            <a:ext cx="5486401" cy="329184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320040" y="3017520"/>
            <a:ext cx="5486401" cy="502920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457203" y="3072383"/>
            <a:ext cx="5212072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is DistilGPT2?</a:t>
            </a:r>
            <a:endParaRPr/>
          </a:p>
        </p:txBody>
      </p:sp>
      <p:sp>
        <p:nvSpPr>
          <p:cNvPr id="435" name="Google Shape;435;p23"/>
          <p:cNvSpPr txBox="1"/>
          <p:nvPr/>
        </p:nvSpPr>
        <p:spPr>
          <a:xfrm>
            <a:off x="502925" y="3611879"/>
            <a:ext cx="5120631" cy="1070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Distilled version of OpenAI's GPT-2 (117M params)</a:t>
            </a:r>
            <a:b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Trained via knowledge distillation technique</a:t>
            </a:r>
            <a:b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30% fewer parameters, same transformer architecture</a:t>
            </a:r>
            <a:b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Maintains strong contextual text generation</a:t>
            </a:r>
            <a:b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Ideal for always-on, low-power deployment</a:t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6172200" y="3017520"/>
            <a:ext cx="5669280" cy="329184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6172200" y="3017520"/>
            <a:ext cx="566928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6309365" y="3072383"/>
            <a:ext cx="5394951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Best For</a:t>
            </a:r>
            <a:endParaRPr/>
          </a:p>
        </p:txBody>
      </p:sp>
      <p:sp>
        <p:nvSpPr>
          <p:cNvPr id="439" name="Google Shape;439;p23"/>
          <p:cNvSpPr txBox="1"/>
          <p:nvPr/>
        </p:nvSpPr>
        <p:spPr>
          <a:xfrm>
            <a:off x="6355084" y="3611879"/>
            <a:ext cx="5303511" cy="86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Short factual Q&amp;A and definitions</a:t>
            </a:r>
            <a:b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Simple word lookups and completions</a:t>
            </a:r>
            <a:b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Low-complexity conversational prompts</a:t>
            </a:r>
            <a:b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Privacy-sensitive local applications</a:t>
            </a:r>
            <a:endParaRPr/>
          </a:p>
        </p:txBody>
      </p:sp>
      <p:grpSp>
        <p:nvGrpSpPr>
          <p:cNvPr id="440" name="Google Shape;440;p23"/>
          <p:cNvGrpSpPr/>
          <p:nvPr/>
        </p:nvGrpSpPr>
        <p:grpSpPr>
          <a:xfrm>
            <a:off x="365758" y="4846319"/>
            <a:ext cx="5303524" cy="274323"/>
            <a:chOff x="-1" y="-1"/>
            <a:chExt cx="5303522" cy="274322"/>
          </a:xfrm>
        </p:grpSpPr>
        <p:sp>
          <p:nvSpPr>
            <p:cNvPr id="441" name="Google Shape;441;p23"/>
            <p:cNvSpPr/>
            <p:nvPr/>
          </p:nvSpPr>
          <p:spPr>
            <a:xfrm>
              <a:off x="-1" y="-1"/>
              <a:ext cx="5303522" cy="274322"/>
            </a:xfrm>
            <a:prstGeom prst="rect">
              <a:avLst/>
            </a:prstGeom>
            <a:solidFill>
              <a:srgbClr val="1B3A6B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3"/>
            <p:cNvSpPr txBox="1"/>
            <p:nvPr/>
          </p:nvSpPr>
          <p:spPr>
            <a:xfrm>
              <a:off x="27431" y="48097"/>
              <a:ext cx="5248657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DISTILGPT2 ARCHITECTURE - 6 TRANSFORMER BLOCKS</a:t>
              </a:r>
              <a:endParaRPr/>
            </a:p>
          </p:txBody>
        </p:sp>
      </p:grpSp>
      <p:sp>
        <p:nvSpPr>
          <p:cNvPr id="443" name="Google Shape;443;p23"/>
          <p:cNvSpPr/>
          <p:nvPr/>
        </p:nvSpPr>
        <p:spPr>
          <a:xfrm>
            <a:off x="384047" y="5166359"/>
            <a:ext cx="1005840" cy="6400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 txBox="1"/>
          <p:nvPr/>
        </p:nvSpPr>
        <p:spPr>
          <a:xfrm>
            <a:off x="429768" y="5166359"/>
            <a:ext cx="914400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Tokens</a:t>
            </a:r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1389888" y="5422391"/>
            <a:ext cx="73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446" name="Google Shape;446;p23"/>
          <p:cNvSpPr/>
          <p:nvPr/>
        </p:nvSpPr>
        <p:spPr>
          <a:xfrm>
            <a:off x="1463038" y="5166359"/>
            <a:ext cx="1005840" cy="6400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1508758" y="5166359"/>
            <a:ext cx="914401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Token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Embeds</a:t>
            </a:r>
            <a:endParaRPr/>
          </a:p>
        </p:txBody>
      </p:sp>
      <p:sp>
        <p:nvSpPr>
          <p:cNvPr id="448" name="Google Shape;448;p23"/>
          <p:cNvSpPr txBox="1"/>
          <p:nvPr/>
        </p:nvSpPr>
        <p:spPr>
          <a:xfrm>
            <a:off x="2468879" y="5422391"/>
            <a:ext cx="73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449" name="Google Shape;449;p23"/>
          <p:cNvSpPr/>
          <p:nvPr/>
        </p:nvSpPr>
        <p:spPr>
          <a:xfrm>
            <a:off x="2542032" y="5166359"/>
            <a:ext cx="1005840" cy="6400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2587752" y="5166359"/>
            <a:ext cx="914400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6x Self-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/>
          </a:p>
        </p:txBody>
      </p:sp>
      <p:sp>
        <p:nvSpPr>
          <p:cNvPr id="451" name="Google Shape;451;p23"/>
          <p:cNvSpPr txBox="1"/>
          <p:nvPr/>
        </p:nvSpPr>
        <p:spPr>
          <a:xfrm>
            <a:off x="3547871" y="5422391"/>
            <a:ext cx="73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452" name="Google Shape;452;p23"/>
          <p:cNvSpPr/>
          <p:nvPr/>
        </p:nvSpPr>
        <p:spPr>
          <a:xfrm>
            <a:off x="3621023" y="5166359"/>
            <a:ext cx="1005840" cy="6400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3666744" y="5166359"/>
            <a:ext cx="914400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Feed-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Forward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4626864" y="5422391"/>
            <a:ext cx="73153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4700015" y="5166359"/>
            <a:ext cx="1005840" cy="6400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4745735" y="5166359"/>
            <a:ext cx="914400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Logits</a:t>
            </a:r>
            <a:endParaRPr/>
          </a:p>
        </p:txBody>
      </p:sp>
      <p:pic>
        <p:nvPicPr>
          <p:cNvPr descr="Picture 401" id="457" name="Google Shape;4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640" y="4617720"/>
            <a:ext cx="5394960" cy="146304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3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4"/>
          <p:cNvSpPr/>
          <p:nvPr/>
        </p:nvSpPr>
        <p:spPr>
          <a:xfrm>
            <a:off x="-1" y="-1270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Distillation - Compress Knowledge Without Losing Intelligence</a:t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320039" y="960119"/>
            <a:ext cx="3474722" cy="5074922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320039" y="960119"/>
            <a:ext cx="3474722" cy="50292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457199" y="967454"/>
            <a:ext cx="3200450" cy="523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TEACHER MODEL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GPT-2 (117M params)</a:t>
            </a:r>
            <a:endParaRPr/>
          </a:p>
        </p:txBody>
      </p:sp>
      <p:sp>
        <p:nvSpPr>
          <p:cNvPr id="469" name="Google Shape;469;p24"/>
          <p:cNvSpPr txBox="1"/>
          <p:nvPr/>
        </p:nvSpPr>
        <p:spPr>
          <a:xfrm>
            <a:off x="502925" y="1554480"/>
            <a:ext cx="3108950" cy="1070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Full-size transformer</a:t>
            </a:r>
            <a:b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High accuracy output</a:t>
            </a:r>
            <a:b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Slow: GPU-heavy</a:t>
            </a:r>
            <a:b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High memory usage</a:t>
            </a:r>
            <a:b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Not edge-deployable</a:t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4343400" y="2286000"/>
            <a:ext cx="3474721" cy="2468881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4343400" y="2286000"/>
            <a:ext cx="3474721" cy="502920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4480565" y="2340864"/>
            <a:ext cx="3200390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DISTILLATION PROCESS</a:t>
            </a:r>
            <a:endParaRPr/>
          </a:p>
        </p:txBody>
      </p:sp>
      <p:sp>
        <p:nvSpPr>
          <p:cNvPr id="473" name="Google Shape;473;p24"/>
          <p:cNvSpPr txBox="1"/>
          <p:nvPr/>
        </p:nvSpPr>
        <p:spPr>
          <a:xfrm>
            <a:off x="4526284" y="2880360"/>
            <a:ext cx="3108951" cy="66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Soft probability matching</a:t>
            </a:r>
            <a:br>
              <a:rPr b="0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Pruning &amp; quantization</a:t>
            </a:r>
            <a:br>
              <a:rPr b="0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Layer reduction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3977645" y="3291840"/>
            <a:ext cx="365751" cy="444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75" name="Google Shape;475;p24"/>
          <p:cNvSpPr txBox="1"/>
          <p:nvPr/>
        </p:nvSpPr>
        <p:spPr>
          <a:xfrm>
            <a:off x="7818125" y="3291840"/>
            <a:ext cx="365751" cy="444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8366759" y="960119"/>
            <a:ext cx="3474721" cy="5074922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8366759" y="960119"/>
            <a:ext cx="3474721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4"/>
          <p:cNvSpPr txBox="1"/>
          <p:nvPr/>
        </p:nvSpPr>
        <p:spPr>
          <a:xfrm>
            <a:off x="8503925" y="935792"/>
            <a:ext cx="3200450" cy="523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MODEL</a:t>
            </a:r>
            <a:b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Distil GPT2 (82M)</a:t>
            </a:r>
            <a:endParaRPr/>
          </a:p>
        </p:txBody>
      </p:sp>
      <p:sp>
        <p:nvSpPr>
          <p:cNvPr id="479" name="Google Shape;479;p24"/>
          <p:cNvSpPr txBox="1"/>
          <p:nvPr/>
        </p:nvSpPr>
        <p:spPr>
          <a:xfrm>
            <a:off x="8549644" y="1554480"/>
            <a:ext cx="3108951" cy="1070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30% smaller size</a:t>
            </a:r>
            <a:b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Retains ~95% quality</a:t>
            </a:r>
            <a:b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CPU-friendly</a:t>
            </a:r>
            <a:b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Edge-deployable</a:t>
            </a:r>
            <a:b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Fast &amp; efficient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DistilBERT retains 97% of BERT performance at 60% the size - distillation is proven and powerful.</a:t>
            </a:r>
            <a:endParaRPr/>
          </a:p>
        </p:txBody>
      </p:sp>
      <p:grpSp>
        <p:nvGrpSpPr>
          <p:cNvPr id="482" name="Google Shape;482;p24"/>
          <p:cNvGrpSpPr/>
          <p:nvPr/>
        </p:nvGrpSpPr>
        <p:grpSpPr>
          <a:xfrm>
            <a:off x="365758" y="2788920"/>
            <a:ext cx="3337563" cy="256034"/>
            <a:chOff x="-1" y="0"/>
            <a:chExt cx="3337561" cy="256032"/>
          </a:xfrm>
        </p:grpSpPr>
        <p:sp>
          <p:nvSpPr>
            <p:cNvPr id="483" name="Google Shape;483;p24"/>
            <p:cNvSpPr/>
            <p:nvPr/>
          </p:nvSpPr>
          <p:spPr>
            <a:xfrm>
              <a:off x="-1" y="0"/>
              <a:ext cx="3337561" cy="256032"/>
            </a:xfrm>
            <a:prstGeom prst="rect">
              <a:avLst/>
            </a:prstGeom>
            <a:solidFill>
              <a:srgbClr val="7B1FA2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4"/>
            <p:cNvSpPr txBox="1"/>
            <p:nvPr/>
          </p:nvSpPr>
          <p:spPr>
            <a:xfrm>
              <a:off x="27431" y="38953"/>
              <a:ext cx="3282696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MODEL PROFILE</a:t>
              </a:r>
              <a:endParaRPr/>
            </a:p>
          </p:txBody>
        </p:sp>
      </p:grpSp>
      <p:sp>
        <p:nvSpPr>
          <p:cNvPr id="485" name="Google Shape;485;p24"/>
          <p:cNvSpPr/>
          <p:nvPr/>
        </p:nvSpPr>
        <p:spPr>
          <a:xfrm>
            <a:off x="365759" y="3090672"/>
            <a:ext cx="3337561" cy="2560321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429767" y="3108960"/>
            <a:ext cx="3246000" cy="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• 117M total parameters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• Requires GPU / cloud server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• High accuracy </a:t>
            </a:r>
            <a:r>
              <a:rPr lang="en-US" sz="1000">
                <a:solidFill>
                  <a:srgbClr val="445566"/>
                </a:solidFill>
              </a:rPr>
              <a:t>-</a:t>
            </a: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high memory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• Slow for real-time inference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• Not edge-deployable as-is</a:t>
            </a:r>
            <a:endParaRPr/>
          </a:p>
        </p:txBody>
      </p:sp>
      <p:grpSp>
        <p:nvGrpSpPr>
          <p:cNvPr id="487" name="Google Shape;487;p24"/>
          <p:cNvGrpSpPr/>
          <p:nvPr/>
        </p:nvGrpSpPr>
        <p:grpSpPr>
          <a:xfrm>
            <a:off x="4389118" y="3630167"/>
            <a:ext cx="3291844" cy="237745"/>
            <a:chOff x="-1" y="0"/>
            <a:chExt cx="3291842" cy="237743"/>
          </a:xfrm>
        </p:grpSpPr>
        <p:sp>
          <p:nvSpPr>
            <p:cNvPr id="488" name="Google Shape;488;p24"/>
            <p:cNvSpPr/>
            <p:nvPr/>
          </p:nvSpPr>
          <p:spPr>
            <a:xfrm>
              <a:off x="-1" y="0"/>
              <a:ext cx="3291842" cy="237743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4"/>
            <p:cNvSpPr txBox="1"/>
            <p:nvPr/>
          </p:nvSpPr>
          <p:spPr>
            <a:xfrm>
              <a:off x="27431" y="29809"/>
              <a:ext cx="3236977" cy="17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STEP-BY-STEP PROCESS</a:t>
              </a:r>
              <a:endParaRPr/>
            </a:p>
          </p:txBody>
        </p:sp>
      </p:grpSp>
      <p:sp>
        <p:nvSpPr>
          <p:cNvPr id="490" name="Google Shape;490;p24"/>
          <p:cNvSpPr/>
          <p:nvPr/>
        </p:nvSpPr>
        <p:spPr>
          <a:xfrm>
            <a:off x="4407408" y="3950208"/>
            <a:ext cx="256033" cy="256033"/>
          </a:xfrm>
          <a:prstGeom prst="ellipse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4"/>
          <p:cNvSpPr txBox="1"/>
          <p:nvPr/>
        </p:nvSpPr>
        <p:spPr>
          <a:xfrm>
            <a:off x="4407408" y="3950208"/>
            <a:ext cx="256033" cy="1355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492" name="Google Shape;492;p24"/>
          <p:cNvSpPr/>
          <p:nvPr/>
        </p:nvSpPr>
        <p:spPr>
          <a:xfrm>
            <a:off x="4709159" y="3922776"/>
            <a:ext cx="2926081" cy="310897"/>
          </a:xfrm>
          <a:prstGeom prst="rect">
            <a:avLst/>
          </a:prstGeom>
          <a:solidFill>
            <a:srgbClr val="FFD08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4"/>
          <p:cNvSpPr txBox="1"/>
          <p:nvPr/>
        </p:nvSpPr>
        <p:spPr>
          <a:xfrm>
            <a:off x="4791455" y="3941064"/>
            <a:ext cx="2761490" cy="316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Teacher outputs soft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probabilities (richer signal)</a:t>
            </a:r>
            <a:endParaRPr/>
          </a:p>
        </p:txBody>
      </p:sp>
      <p:sp>
        <p:nvSpPr>
          <p:cNvPr id="494" name="Google Shape;494;p24"/>
          <p:cNvSpPr/>
          <p:nvPr/>
        </p:nvSpPr>
        <p:spPr>
          <a:xfrm>
            <a:off x="4407408" y="4297679"/>
            <a:ext cx="256033" cy="256033"/>
          </a:xfrm>
          <a:prstGeom prst="ellipse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4"/>
          <p:cNvSpPr txBox="1"/>
          <p:nvPr/>
        </p:nvSpPr>
        <p:spPr>
          <a:xfrm>
            <a:off x="4407408" y="4297679"/>
            <a:ext cx="256033" cy="1355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496" name="Google Shape;496;p24"/>
          <p:cNvSpPr/>
          <p:nvPr/>
        </p:nvSpPr>
        <p:spPr>
          <a:xfrm>
            <a:off x="4709159" y="4270247"/>
            <a:ext cx="2926081" cy="310897"/>
          </a:xfrm>
          <a:prstGeom prst="rect">
            <a:avLst/>
          </a:prstGeom>
          <a:solidFill>
            <a:srgbClr val="FFB08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4"/>
          <p:cNvSpPr txBox="1"/>
          <p:nvPr/>
        </p:nvSpPr>
        <p:spPr>
          <a:xfrm>
            <a:off x="4791455" y="4288535"/>
            <a:ext cx="2761490" cy="3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Student mirrors logit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distributions via KL-divergence</a:t>
            </a:r>
            <a:endParaRPr/>
          </a:p>
        </p:txBody>
      </p:sp>
      <p:sp>
        <p:nvSpPr>
          <p:cNvPr id="498" name="Google Shape;498;p24"/>
          <p:cNvSpPr/>
          <p:nvPr/>
        </p:nvSpPr>
        <p:spPr>
          <a:xfrm>
            <a:off x="4389120" y="4626864"/>
            <a:ext cx="3291841" cy="219457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4"/>
          <p:cNvSpPr txBox="1"/>
          <p:nvPr/>
        </p:nvSpPr>
        <p:spPr>
          <a:xfrm>
            <a:off x="4453128" y="4626864"/>
            <a:ext cx="3163825" cy="202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117M -&gt; 82M  (30% smaller, 95% quality)</a:t>
            </a:r>
            <a:endParaRPr/>
          </a:p>
        </p:txBody>
      </p:sp>
      <p:grpSp>
        <p:nvGrpSpPr>
          <p:cNvPr id="500" name="Google Shape;500;p24"/>
          <p:cNvGrpSpPr/>
          <p:nvPr/>
        </p:nvGrpSpPr>
        <p:grpSpPr>
          <a:xfrm>
            <a:off x="8412479" y="2788920"/>
            <a:ext cx="3337562" cy="256034"/>
            <a:chOff x="-1" y="0"/>
            <a:chExt cx="3337561" cy="256032"/>
          </a:xfrm>
        </p:grpSpPr>
        <p:sp>
          <p:nvSpPr>
            <p:cNvPr id="501" name="Google Shape;501;p24"/>
            <p:cNvSpPr/>
            <p:nvPr/>
          </p:nvSpPr>
          <p:spPr>
            <a:xfrm>
              <a:off x="-1" y="0"/>
              <a:ext cx="3337561" cy="256032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4"/>
            <p:cNvSpPr txBox="1"/>
            <p:nvPr/>
          </p:nvSpPr>
          <p:spPr>
            <a:xfrm>
              <a:off x="27431" y="38953"/>
              <a:ext cx="3282696" cy="1781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MODEL PROFILE</a:t>
              </a:r>
              <a:endParaRPr/>
            </a:p>
          </p:txBody>
        </p:sp>
      </p:grpSp>
      <p:sp>
        <p:nvSpPr>
          <p:cNvPr id="503" name="Google Shape;503;p24"/>
          <p:cNvSpPr/>
          <p:nvPr/>
        </p:nvSpPr>
        <p:spPr>
          <a:xfrm>
            <a:off x="8412480" y="3090672"/>
            <a:ext cx="3337560" cy="256032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4"/>
          <p:cNvSpPr txBox="1"/>
          <p:nvPr/>
        </p:nvSpPr>
        <p:spPr>
          <a:xfrm>
            <a:off x="8476488" y="3108960"/>
            <a:ext cx="3246120" cy="107941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+ 82M parameters (30% smaller)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+ Retains ~95% task quality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+ Runs on CPU - no GPU needed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+ Edge &amp; mobile deployable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+ Fast startup, low memory use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+ Always-on deployment ready</a:t>
            </a:r>
            <a:endParaRPr/>
          </a:p>
        </p:txBody>
      </p:sp>
      <p:pic>
        <p:nvPicPr>
          <p:cNvPr descr="Picture 426" id="505" name="Google Shape;5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4251959"/>
            <a:ext cx="3291841" cy="16459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427" id="506" name="Google Shape;50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4251959"/>
            <a:ext cx="3291841" cy="164592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4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5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5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Module 2 - The Routing Brain: 4 Heuristic Signals</a:t>
            </a:r>
            <a:endParaRPr/>
          </a:p>
        </p:txBody>
      </p:sp>
      <p:sp>
        <p:nvSpPr>
          <p:cNvPr id="515" name="Google Shape;515;p25"/>
          <p:cNvSpPr/>
          <p:nvPr/>
        </p:nvSpPr>
        <p:spPr>
          <a:xfrm>
            <a:off x="320039" y="960119"/>
            <a:ext cx="5760722" cy="274320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/>
          <p:nvPr/>
        </p:nvSpPr>
        <p:spPr>
          <a:xfrm>
            <a:off x="320039" y="960119"/>
            <a:ext cx="5760722" cy="530353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5"/>
          <p:cNvSpPr txBox="1"/>
          <p:nvPr/>
        </p:nvSpPr>
        <p:spPr>
          <a:xfrm>
            <a:off x="475492" y="1033272"/>
            <a:ext cx="5486392" cy="4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📏  1. Prompt Length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48644" y="1645920"/>
            <a:ext cx="5303512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Longer, more complex prompts require deeper reasoning. Long prompts are routed to the cloud fallback model.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6309359" y="960119"/>
            <a:ext cx="5760721" cy="274320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/>
          <p:nvPr/>
        </p:nvSpPr>
        <p:spPr>
          <a:xfrm>
            <a:off x="6309359" y="960119"/>
            <a:ext cx="5760721" cy="530353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5"/>
          <p:cNvSpPr txBox="1"/>
          <p:nvPr/>
        </p:nvSpPr>
        <p:spPr>
          <a:xfrm>
            <a:off x="6464812" y="1033272"/>
            <a:ext cx="5486392" cy="4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📝  2. Response Length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6537965" y="1645920"/>
            <a:ext cx="530351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If the edge response is too short, the model didn't fully answer. Short outputs trigger cloud escalation.</a:t>
            </a:r>
            <a:endParaRPr/>
          </a:p>
        </p:txBody>
      </p:sp>
      <p:sp>
        <p:nvSpPr>
          <p:cNvPr id="523" name="Google Shape;523;p25"/>
          <p:cNvSpPr/>
          <p:nvPr/>
        </p:nvSpPr>
        <p:spPr>
          <a:xfrm>
            <a:off x="320039" y="3886200"/>
            <a:ext cx="5760722" cy="2743200"/>
          </a:xfrm>
          <a:prstGeom prst="rect">
            <a:avLst/>
          </a:prstGeom>
          <a:solidFill>
            <a:srgbClr val="FDEDEB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320039" y="3886200"/>
            <a:ext cx="5760722" cy="530352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475492" y="3959352"/>
            <a:ext cx="5486392" cy="43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🔁  3. Repetition Detection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548644" y="4572000"/>
            <a:ext cx="5303452" cy="509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Repeated token sequences signal degenerate output -  hallucination or model confusion at the edge layer.</a:t>
            </a:r>
            <a:endParaRPr/>
          </a:p>
        </p:txBody>
      </p:sp>
      <p:sp>
        <p:nvSpPr>
          <p:cNvPr id="527" name="Google Shape;527;p25"/>
          <p:cNvSpPr/>
          <p:nvPr/>
        </p:nvSpPr>
        <p:spPr>
          <a:xfrm>
            <a:off x="6309359" y="3886200"/>
            <a:ext cx="5760721" cy="2743200"/>
          </a:xfrm>
          <a:prstGeom prst="rect">
            <a:avLst/>
          </a:prstGeom>
          <a:solidFill>
            <a:srgbClr val="FFF8E1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6309359" y="3886200"/>
            <a:ext cx="5760721" cy="530352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 txBox="1"/>
          <p:nvPr/>
        </p:nvSpPr>
        <p:spPr>
          <a:xfrm>
            <a:off x="6464812" y="3959352"/>
            <a:ext cx="5486392" cy="348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⏱  4. Latency Threshold</a:t>
            </a:r>
            <a:endParaRPr/>
          </a:p>
        </p:txBody>
      </p:sp>
      <p:sp>
        <p:nvSpPr>
          <p:cNvPr id="530" name="Google Shape;530;p25"/>
          <p:cNvSpPr txBox="1"/>
          <p:nvPr/>
        </p:nvSpPr>
        <p:spPr>
          <a:xfrm>
            <a:off x="6537965" y="4572000"/>
            <a:ext cx="5303511" cy="509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If edge inference itself takes too long, escalate rather than compound delay with a slow, poor response.</a:t>
            </a:r>
            <a:endParaRPr/>
          </a:p>
        </p:txBody>
      </p:sp>
      <p:sp>
        <p:nvSpPr>
          <p:cNvPr id="531" name="Google Shape;531;p25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 txBox="1"/>
          <p:nvPr/>
        </p:nvSpPr>
        <p:spPr>
          <a:xfrm>
            <a:off x="315219" y="6473952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 entropy scoring - lightweight design enables real-time routing decisions with zero model overhead.</a:t>
            </a:r>
            <a:endParaRPr/>
          </a:p>
        </p:txBody>
      </p:sp>
      <p:grpSp>
        <p:nvGrpSpPr>
          <p:cNvPr id="533" name="Google Shape;533;p25"/>
          <p:cNvGrpSpPr/>
          <p:nvPr/>
        </p:nvGrpSpPr>
        <p:grpSpPr>
          <a:xfrm>
            <a:off x="365758" y="2414016"/>
            <a:ext cx="5623564" cy="237745"/>
            <a:chOff x="-1" y="0"/>
            <a:chExt cx="5623562" cy="237743"/>
          </a:xfrm>
        </p:grpSpPr>
        <p:sp>
          <p:nvSpPr>
            <p:cNvPr id="534" name="Google Shape;534;p25"/>
            <p:cNvSpPr/>
            <p:nvPr/>
          </p:nvSpPr>
          <p:spPr>
            <a:xfrm>
              <a:off x="-1" y="0"/>
              <a:ext cx="5623562" cy="237743"/>
            </a:xfrm>
            <a:prstGeom prst="rect">
              <a:avLst/>
            </a:prstGeom>
            <a:solidFill>
              <a:srgbClr val="1765C0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5"/>
            <p:cNvSpPr txBox="1"/>
            <p:nvPr/>
          </p:nvSpPr>
          <p:spPr>
            <a:xfrm>
              <a:off x="27431" y="29809"/>
              <a:ext cx="5568698" cy="17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ROUTING THRESHOLD: PROMPT WORD COUNT</a:t>
              </a:r>
              <a:endParaRPr/>
            </a:p>
          </p:txBody>
        </p:sp>
      </p:grpSp>
      <p:sp>
        <p:nvSpPr>
          <p:cNvPr id="536" name="Google Shape;536;p25"/>
          <p:cNvSpPr/>
          <p:nvPr/>
        </p:nvSpPr>
        <p:spPr>
          <a:xfrm>
            <a:off x="384047" y="2697479"/>
            <a:ext cx="5586986" cy="228601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384048" y="2697479"/>
            <a:ext cx="2011679" cy="2286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2395727" y="2697479"/>
            <a:ext cx="3575305" cy="22860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5"/>
          <p:cNvSpPr txBox="1"/>
          <p:nvPr/>
        </p:nvSpPr>
        <p:spPr>
          <a:xfrm>
            <a:off x="402336" y="2697479"/>
            <a:ext cx="195681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&lt;=15 words -&gt; Edge</a:t>
            </a:r>
            <a:endParaRPr/>
          </a:p>
        </p:txBody>
      </p:sp>
      <p:sp>
        <p:nvSpPr>
          <p:cNvPr id="540" name="Google Shape;540;p25"/>
          <p:cNvSpPr txBox="1"/>
          <p:nvPr/>
        </p:nvSpPr>
        <p:spPr>
          <a:xfrm>
            <a:off x="2414016" y="2697479"/>
            <a:ext cx="3520441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&gt;15 words -&gt; Cloud</a:t>
            </a:r>
            <a:endParaRPr/>
          </a:p>
        </p:txBody>
      </p:sp>
      <p:sp>
        <p:nvSpPr>
          <p:cNvPr id="541" name="Google Shape;541;p25"/>
          <p:cNvSpPr txBox="1"/>
          <p:nvPr/>
        </p:nvSpPr>
        <p:spPr>
          <a:xfrm>
            <a:off x="429767" y="2971800"/>
            <a:ext cx="5495545" cy="202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Example: "Define LLM" -&gt; Edge    |    "Explain how attention works" -&gt; Cloud</a:t>
            </a:r>
            <a:endParaRPr/>
          </a:p>
        </p:txBody>
      </p:sp>
      <p:grpSp>
        <p:nvGrpSpPr>
          <p:cNvPr id="542" name="Google Shape;542;p25"/>
          <p:cNvGrpSpPr/>
          <p:nvPr/>
        </p:nvGrpSpPr>
        <p:grpSpPr>
          <a:xfrm>
            <a:off x="6355078" y="2414016"/>
            <a:ext cx="5623564" cy="237745"/>
            <a:chOff x="-1" y="0"/>
            <a:chExt cx="5623562" cy="237743"/>
          </a:xfrm>
        </p:grpSpPr>
        <p:sp>
          <p:nvSpPr>
            <p:cNvPr id="543" name="Google Shape;543;p25"/>
            <p:cNvSpPr/>
            <p:nvPr/>
          </p:nvSpPr>
          <p:spPr>
            <a:xfrm>
              <a:off x="-1" y="0"/>
              <a:ext cx="5623562" cy="237743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5"/>
            <p:cNvSpPr txBox="1"/>
            <p:nvPr/>
          </p:nvSpPr>
          <p:spPr>
            <a:xfrm>
              <a:off x="27431" y="29809"/>
              <a:ext cx="5568698" cy="17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ROUTING THRESHOLD: RESPONSE TOKEN COUNT</a:t>
              </a:r>
              <a:endParaRPr/>
            </a:p>
          </p:txBody>
        </p:sp>
      </p:grpSp>
      <p:sp>
        <p:nvSpPr>
          <p:cNvPr id="545" name="Google Shape;545;p25"/>
          <p:cNvSpPr/>
          <p:nvPr/>
        </p:nvSpPr>
        <p:spPr>
          <a:xfrm>
            <a:off x="6373367" y="2697479"/>
            <a:ext cx="5586986" cy="228601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6373367" y="2697479"/>
            <a:ext cx="1371601" cy="22860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7744968" y="2697479"/>
            <a:ext cx="4215385" cy="2286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5"/>
          <p:cNvSpPr txBox="1"/>
          <p:nvPr/>
        </p:nvSpPr>
        <p:spPr>
          <a:xfrm>
            <a:off x="6391655" y="2697479"/>
            <a:ext cx="131673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&lt;20 -&gt; Cloud</a:t>
            </a:r>
            <a:endParaRPr/>
          </a:p>
        </p:txBody>
      </p:sp>
      <p:sp>
        <p:nvSpPr>
          <p:cNvPr id="549" name="Google Shape;549;p25"/>
          <p:cNvSpPr txBox="1"/>
          <p:nvPr/>
        </p:nvSpPr>
        <p:spPr>
          <a:xfrm>
            <a:off x="7763256" y="2697479"/>
            <a:ext cx="4160521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&gt;20 tokens -&gt; Edge Sufficient</a:t>
            </a:r>
            <a:endParaRPr/>
          </a:p>
        </p:txBody>
      </p:sp>
      <p:sp>
        <p:nvSpPr>
          <p:cNvPr id="550" name="Google Shape;550;p25"/>
          <p:cNvSpPr txBox="1"/>
          <p:nvPr/>
        </p:nvSpPr>
        <p:spPr>
          <a:xfrm>
            <a:off x="6419088" y="2971800"/>
            <a:ext cx="5495545" cy="202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Short output = model failed to answer fully -&gt; escalate to cloud</a:t>
            </a:r>
            <a:endParaRPr/>
          </a:p>
        </p:txBody>
      </p:sp>
      <p:grpSp>
        <p:nvGrpSpPr>
          <p:cNvPr id="551" name="Google Shape;551;p25"/>
          <p:cNvGrpSpPr/>
          <p:nvPr/>
        </p:nvGrpSpPr>
        <p:grpSpPr>
          <a:xfrm>
            <a:off x="365758" y="5212079"/>
            <a:ext cx="5623564" cy="237745"/>
            <a:chOff x="-1" y="0"/>
            <a:chExt cx="5623562" cy="237743"/>
          </a:xfrm>
        </p:grpSpPr>
        <p:sp>
          <p:nvSpPr>
            <p:cNvPr id="552" name="Google Shape;552;p25"/>
            <p:cNvSpPr/>
            <p:nvPr/>
          </p:nvSpPr>
          <p:spPr>
            <a:xfrm>
              <a:off x="-1" y="0"/>
              <a:ext cx="5623562" cy="237743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5"/>
            <p:cNvSpPr txBox="1"/>
            <p:nvPr/>
          </p:nvSpPr>
          <p:spPr>
            <a:xfrm>
              <a:off x="27431" y="29809"/>
              <a:ext cx="5568698" cy="17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WHAT DEGENERATE OUTPUT LOOKS LIKE</a:t>
              </a:r>
              <a:endParaRPr/>
            </a:p>
          </p:txBody>
        </p:sp>
      </p:grpSp>
      <p:sp>
        <p:nvSpPr>
          <p:cNvPr id="554" name="Google Shape;554;p25"/>
          <p:cNvSpPr/>
          <p:nvPr/>
        </p:nvSpPr>
        <p:spPr>
          <a:xfrm>
            <a:off x="384047" y="5495544"/>
            <a:ext cx="5586986" cy="502920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5"/>
          <p:cNvSpPr txBox="1"/>
          <p:nvPr/>
        </p:nvSpPr>
        <p:spPr>
          <a:xfrm>
            <a:off x="466343" y="5513832"/>
            <a:ext cx="5422393" cy="341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"...the model the model the model the model..."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 &lt;- DETECTED: 3+ repeated n-grams -&gt; Escalate to Cloud</a:t>
            </a:r>
            <a:endParaRPr/>
          </a:p>
        </p:txBody>
      </p:sp>
      <p:grpSp>
        <p:nvGrpSpPr>
          <p:cNvPr id="556" name="Google Shape;556;p25"/>
          <p:cNvGrpSpPr/>
          <p:nvPr/>
        </p:nvGrpSpPr>
        <p:grpSpPr>
          <a:xfrm>
            <a:off x="6355078" y="5468111"/>
            <a:ext cx="5623564" cy="237745"/>
            <a:chOff x="-1" y="0"/>
            <a:chExt cx="5623562" cy="237743"/>
          </a:xfrm>
        </p:grpSpPr>
        <p:sp>
          <p:nvSpPr>
            <p:cNvPr id="557" name="Google Shape;557;p25"/>
            <p:cNvSpPr/>
            <p:nvPr/>
          </p:nvSpPr>
          <p:spPr>
            <a:xfrm>
              <a:off x="-1" y="0"/>
              <a:ext cx="5623562" cy="237743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25"/>
            <p:cNvSpPr txBox="1"/>
            <p:nvPr/>
          </p:nvSpPr>
          <p:spPr>
            <a:xfrm>
              <a:off x="27431" y="29809"/>
              <a:ext cx="5568698" cy="17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ROUTING THRESHOLD: INFERENCE TIME</a:t>
              </a:r>
              <a:endParaRPr/>
            </a:p>
          </p:txBody>
        </p:sp>
      </p:grpSp>
      <p:sp>
        <p:nvSpPr>
          <p:cNvPr id="559" name="Google Shape;559;p25"/>
          <p:cNvSpPr/>
          <p:nvPr/>
        </p:nvSpPr>
        <p:spPr>
          <a:xfrm>
            <a:off x="6373367" y="5751576"/>
            <a:ext cx="5586986" cy="228601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6373367" y="5751576"/>
            <a:ext cx="2560322" cy="2286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8933688" y="5751576"/>
            <a:ext cx="3026665" cy="22860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5"/>
          <p:cNvSpPr txBox="1"/>
          <p:nvPr/>
        </p:nvSpPr>
        <p:spPr>
          <a:xfrm>
            <a:off x="6391655" y="5751576"/>
            <a:ext cx="2505457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&lt;300ms -&gt; OK</a:t>
            </a:r>
            <a:endParaRPr/>
          </a:p>
        </p:txBody>
      </p:sp>
      <p:sp>
        <p:nvSpPr>
          <p:cNvPr id="563" name="Google Shape;563;p25"/>
          <p:cNvSpPr txBox="1"/>
          <p:nvPr/>
        </p:nvSpPr>
        <p:spPr>
          <a:xfrm>
            <a:off x="8951976" y="5751576"/>
            <a:ext cx="2971801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&gt;300ms -&gt; Route to Cloud</a:t>
            </a:r>
            <a:endParaRPr/>
          </a:p>
        </p:txBody>
      </p:sp>
      <p:sp>
        <p:nvSpPr>
          <p:cNvPr id="564" name="Google Shape;564;p25"/>
          <p:cNvSpPr txBox="1"/>
          <p:nvPr/>
        </p:nvSpPr>
        <p:spPr>
          <a:xfrm>
            <a:off x="6419088" y="6025896"/>
            <a:ext cx="5495545" cy="202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1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If edge is slow anyway, cloud gives both speed AND quality</a:t>
            </a:r>
            <a:endParaRPr/>
          </a:p>
        </p:txBody>
      </p:sp>
      <p:sp>
        <p:nvSpPr>
          <p:cNvPr id="565" name="Google Shape;565;p25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6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Stack - How the System Was Built</a:t>
            </a:r>
            <a:endParaRPr/>
          </a:p>
        </p:txBody>
      </p:sp>
      <p:sp>
        <p:nvSpPr>
          <p:cNvPr id="573" name="Google Shape;573;p26"/>
          <p:cNvSpPr/>
          <p:nvPr/>
        </p:nvSpPr>
        <p:spPr>
          <a:xfrm>
            <a:off x="320040" y="987552"/>
            <a:ext cx="11548872" cy="8686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/>
          <p:nvPr/>
        </p:nvSpPr>
        <p:spPr>
          <a:xfrm>
            <a:off x="320040" y="987552"/>
            <a:ext cx="2011679" cy="86868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6"/>
          <p:cNvSpPr txBox="1"/>
          <p:nvPr/>
        </p:nvSpPr>
        <p:spPr>
          <a:xfrm>
            <a:off x="365765" y="987552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Language</a:t>
            </a:r>
            <a:endParaRPr/>
          </a:p>
        </p:txBody>
      </p:sp>
      <p:sp>
        <p:nvSpPr>
          <p:cNvPr id="576" name="Google Shape;576;p26"/>
          <p:cNvSpPr txBox="1"/>
          <p:nvPr/>
        </p:nvSpPr>
        <p:spPr>
          <a:xfrm>
            <a:off x="2468884" y="1042416"/>
            <a:ext cx="310895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3.x</a:t>
            </a:r>
            <a:endParaRPr/>
          </a:p>
        </p:txBody>
      </p:sp>
      <p:sp>
        <p:nvSpPr>
          <p:cNvPr id="577" name="Google Shape;577;p26"/>
          <p:cNvSpPr txBox="1"/>
          <p:nvPr/>
        </p:nvSpPr>
        <p:spPr>
          <a:xfrm>
            <a:off x="2468885" y="1463039"/>
            <a:ext cx="9171422" cy="24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Modular, object-oriented component architecture with pluggable backends.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320040" y="1947672"/>
            <a:ext cx="11548872" cy="868681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320040" y="1947672"/>
            <a:ext cx="2011679" cy="86868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6"/>
          <p:cNvSpPr txBox="1"/>
          <p:nvPr/>
        </p:nvSpPr>
        <p:spPr>
          <a:xfrm>
            <a:off x="365765" y="1947672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Edge Model</a:t>
            </a:r>
            <a:endParaRPr/>
          </a:p>
        </p:txBody>
      </p:sp>
      <p:sp>
        <p:nvSpPr>
          <p:cNvPr id="581" name="Google Shape;581;p26"/>
          <p:cNvSpPr txBox="1"/>
          <p:nvPr/>
        </p:nvSpPr>
        <p:spPr>
          <a:xfrm>
            <a:off x="2468884" y="2002535"/>
            <a:ext cx="310895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HuggingFace Transformers</a:t>
            </a:r>
            <a:endParaRPr/>
          </a:p>
        </p:txBody>
      </p:sp>
      <p:sp>
        <p:nvSpPr>
          <p:cNvPr id="582" name="Google Shape;582;p26"/>
          <p:cNvSpPr txBox="1"/>
          <p:nvPr/>
        </p:nvSpPr>
        <p:spPr>
          <a:xfrm>
            <a:off x="2468885" y="2423160"/>
            <a:ext cx="9171422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DistilGPT2 via `transformers` pipeline - CPU inference, no GPU required.</a:t>
            </a:r>
            <a:endParaRPr/>
          </a:p>
        </p:txBody>
      </p:sp>
      <p:sp>
        <p:nvSpPr>
          <p:cNvPr id="583" name="Google Shape;583;p26"/>
          <p:cNvSpPr/>
          <p:nvPr/>
        </p:nvSpPr>
        <p:spPr>
          <a:xfrm>
            <a:off x="320040" y="2907792"/>
            <a:ext cx="11548872" cy="8686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320040" y="2907792"/>
            <a:ext cx="2011679" cy="868681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365765" y="2907792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Cloud Model</a:t>
            </a:r>
            <a:endParaRPr/>
          </a:p>
        </p:txBody>
      </p:sp>
      <p:sp>
        <p:nvSpPr>
          <p:cNvPr id="586" name="Google Shape;586;p26"/>
          <p:cNvSpPr txBox="1"/>
          <p:nvPr/>
        </p:nvSpPr>
        <p:spPr>
          <a:xfrm>
            <a:off x="2468884" y="2962655"/>
            <a:ext cx="310895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  <a:t>OpenAI Python SDK</a:t>
            </a:r>
            <a:endParaRPr/>
          </a:p>
        </p:txBody>
      </p:sp>
      <p:sp>
        <p:nvSpPr>
          <p:cNvPr id="587" name="Google Shape;587;p26"/>
          <p:cNvSpPr txBox="1"/>
          <p:nvPr/>
        </p:nvSpPr>
        <p:spPr>
          <a:xfrm>
            <a:off x="2468885" y="3383279"/>
            <a:ext cx="9171422" cy="24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GPT-4o-mini via REST API with streaming support for long-form outputs.</a:t>
            </a:r>
            <a:endParaRPr/>
          </a:p>
        </p:txBody>
      </p:sp>
      <p:sp>
        <p:nvSpPr>
          <p:cNvPr id="588" name="Google Shape;588;p26"/>
          <p:cNvSpPr/>
          <p:nvPr/>
        </p:nvSpPr>
        <p:spPr>
          <a:xfrm>
            <a:off x="320040" y="3867911"/>
            <a:ext cx="11548872" cy="868681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320040" y="3867911"/>
            <a:ext cx="2011679" cy="86868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 txBox="1"/>
          <p:nvPr/>
        </p:nvSpPr>
        <p:spPr>
          <a:xfrm>
            <a:off x="365765" y="3867911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Routing Logic</a:t>
            </a:r>
            <a:endParaRPr/>
          </a:p>
        </p:txBody>
      </p:sp>
      <p:sp>
        <p:nvSpPr>
          <p:cNvPr id="591" name="Google Shape;591;p26"/>
          <p:cNvSpPr txBox="1"/>
          <p:nvPr/>
        </p:nvSpPr>
        <p:spPr>
          <a:xfrm>
            <a:off x="2468884" y="3922776"/>
            <a:ext cx="310895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838F"/>
                </a:solidFill>
                <a:latin typeface="Trebuchet MS"/>
                <a:ea typeface="Trebuchet MS"/>
                <a:cs typeface="Trebuchet MS"/>
                <a:sym typeface="Trebuchet MS"/>
              </a:rPr>
              <a:t>Custom Python Module</a:t>
            </a:r>
            <a:endParaRPr/>
          </a:p>
        </p:txBody>
      </p:sp>
      <p:sp>
        <p:nvSpPr>
          <p:cNvPr id="592" name="Google Shape;592;p26"/>
          <p:cNvSpPr txBox="1"/>
          <p:nvPr/>
        </p:nvSpPr>
        <p:spPr>
          <a:xfrm>
            <a:off x="2468885" y="4343400"/>
            <a:ext cx="9171422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Lightweight heuristic evaluator: response length + repetition detection.</a:t>
            </a:r>
            <a:endParaRPr/>
          </a:p>
        </p:txBody>
      </p:sp>
      <p:sp>
        <p:nvSpPr>
          <p:cNvPr id="593" name="Google Shape;593;p26"/>
          <p:cNvSpPr/>
          <p:nvPr/>
        </p:nvSpPr>
        <p:spPr>
          <a:xfrm>
            <a:off x="320040" y="4828032"/>
            <a:ext cx="11548872" cy="8686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320040" y="4828032"/>
            <a:ext cx="2011679" cy="868681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6"/>
          <p:cNvSpPr txBox="1"/>
          <p:nvPr/>
        </p:nvSpPr>
        <p:spPr>
          <a:xfrm>
            <a:off x="365765" y="4828032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Benchmarking</a:t>
            </a:r>
            <a:endParaRPr/>
          </a:p>
        </p:txBody>
      </p:sp>
      <p:sp>
        <p:nvSpPr>
          <p:cNvPr id="596" name="Google Shape;596;p26"/>
          <p:cNvSpPr txBox="1"/>
          <p:nvPr/>
        </p:nvSpPr>
        <p:spPr>
          <a:xfrm>
            <a:off x="2468884" y="4882896"/>
            <a:ext cx="310895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5100"/>
                </a:solidFill>
                <a:latin typeface="Trebuchet MS"/>
                <a:ea typeface="Trebuchet MS"/>
                <a:cs typeface="Trebuchet MS"/>
                <a:sym typeface="Trebuchet MS"/>
              </a:rPr>
              <a:t>time.perf_counter()</a:t>
            </a:r>
            <a:endParaRPr/>
          </a:p>
        </p:txBody>
      </p:sp>
      <p:sp>
        <p:nvSpPr>
          <p:cNvPr id="597" name="Google Shape;597;p26"/>
          <p:cNvSpPr txBox="1"/>
          <p:nvPr/>
        </p:nvSpPr>
        <p:spPr>
          <a:xfrm>
            <a:off x="2468885" y="5303520"/>
            <a:ext cx="9171422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Per-prompt timing: edge latency, cloud latency, and routing decision logged.</a:t>
            </a:r>
            <a:endParaRPr/>
          </a:p>
        </p:txBody>
      </p:sp>
      <p:sp>
        <p:nvSpPr>
          <p:cNvPr id="598" name="Google Shape;598;p26"/>
          <p:cNvSpPr/>
          <p:nvPr/>
        </p:nvSpPr>
        <p:spPr>
          <a:xfrm>
            <a:off x="320040" y="5788152"/>
            <a:ext cx="11548872" cy="868681"/>
          </a:xfrm>
          <a:prstGeom prst="rect">
            <a:avLst/>
          </a:prstGeom>
          <a:solidFill>
            <a:srgbClr val="F5F9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320040" y="5788152"/>
            <a:ext cx="2011679" cy="86868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6"/>
          <p:cNvSpPr txBox="1"/>
          <p:nvPr/>
        </p:nvSpPr>
        <p:spPr>
          <a:xfrm>
            <a:off x="365765" y="5788152"/>
            <a:ext cx="192022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Hardware</a:t>
            </a:r>
            <a:endParaRPr/>
          </a:p>
        </p:txBody>
      </p:sp>
      <p:sp>
        <p:nvSpPr>
          <p:cNvPr id="601" name="Google Shape;601;p26"/>
          <p:cNvSpPr txBox="1"/>
          <p:nvPr/>
        </p:nvSpPr>
        <p:spPr>
          <a:xfrm>
            <a:off x="2468884" y="5843015"/>
            <a:ext cx="310895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CPU-only Commodity Laptop</a:t>
            </a:r>
            <a:endParaRPr/>
          </a:p>
        </p:txBody>
      </p:sp>
      <p:sp>
        <p:nvSpPr>
          <p:cNvPr id="602" name="Google Shape;602;p26"/>
          <p:cNvSpPr txBox="1"/>
          <p:nvPr/>
        </p:nvSpPr>
        <p:spPr>
          <a:xfrm>
            <a:off x="2468884" y="6263640"/>
            <a:ext cx="9171352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 GPU - intentionally simulating real mobile/edge device constraints.</a:t>
            </a:r>
            <a:endParaRPr/>
          </a:p>
        </p:txBody>
      </p:sp>
      <p:sp>
        <p:nvSpPr>
          <p:cNvPr id="603" name="Google Shape;603;p26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7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7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7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Confidence-Based Routing - Step-by-Step Workflow</a:t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256032" y="1161288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7"/>
          <p:cNvSpPr txBox="1"/>
          <p:nvPr/>
        </p:nvSpPr>
        <p:spPr>
          <a:xfrm>
            <a:off x="301757" y="1170432"/>
            <a:ext cx="347462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3" name="Google Shape;613;p27"/>
          <p:cNvSpPr/>
          <p:nvPr/>
        </p:nvSpPr>
        <p:spPr>
          <a:xfrm>
            <a:off x="777239" y="960119"/>
            <a:ext cx="5577842" cy="8412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/>
          <p:nvPr/>
        </p:nvSpPr>
        <p:spPr>
          <a:xfrm>
            <a:off x="777240" y="960119"/>
            <a:ext cx="118872" cy="841249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 txBox="1"/>
          <p:nvPr/>
        </p:nvSpPr>
        <p:spPr>
          <a:xfrm>
            <a:off x="1051564" y="1161288"/>
            <a:ext cx="5138920" cy="25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User sends prompt to system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256032" y="2121407"/>
            <a:ext cx="438912" cy="438913"/>
          </a:xfrm>
          <a:prstGeom prst="ellipse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301757" y="2130551"/>
            <a:ext cx="347462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777239" y="1920239"/>
            <a:ext cx="5577842" cy="8412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777240" y="1920239"/>
            <a:ext cx="118872" cy="841249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7"/>
          <p:cNvSpPr txBox="1"/>
          <p:nvPr/>
        </p:nvSpPr>
        <p:spPr>
          <a:xfrm>
            <a:off x="1051564" y="2121407"/>
            <a:ext cx="5138920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rPr>
              <a:t>Edge device runs DistilGPT2 locally</a:t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256032" y="3081527"/>
            <a:ext cx="438912" cy="438913"/>
          </a:xfrm>
          <a:prstGeom prst="ellipse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301757" y="3090672"/>
            <a:ext cx="347462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23" name="Google Shape;623;p27"/>
          <p:cNvSpPr/>
          <p:nvPr/>
        </p:nvSpPr>
        <p:spPr>
          <a:xfrm>
            <a:off x="777239" y="2880360"/>
            <a:ext cx="5577842" cy="8412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777240" y="2880360"/>
            <a:ext cx="118872" cy="841249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 txBox="1"/>
          <p:nvPr/>
        </p:nvSpPr>
        <p:spPr>
          <a:xfrm>
            <a:off x="1051564" y="3081527"/>
            <a:ext cx="5138920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Router checks response length threshold</a:t>
            </a:r>
            <a:endParaRPr/>
          </a:p>
        </p:txBody>
      </p:sp>
      <p:sp>
        <p:nvSpPr>
          <p:cNvPr id="626" name="Google Shape;626;p27"/>
          <p:cNvSpPr/>
          <p:nvPr/>
        </p:nvSpPr>
        <p:spPr>
          <a:xfrm>
            <a:off x="256032" y="4041647"/>
            <a:ext cx="438912" cy="438913"/>
          </a:xfrm>
          <a:prstGeom prst="ellipse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7"/>
          <p:cNvSpPr txBox="1"/>
          <p:nvPr/>
        </p:nvSpPr>
        <p:spPr>
          <a:xfrm>
            <a:off x="301757" y="4050791"/>
            <a:ext cx="347462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28" name="Google Shape;628;p27"/>
          <p:cNvSpPr/>
          <p:nvPr/>
        </p:nvSpPr>
        <p:spPr>
          <a:xfrm>
            <a:off x="777239" y="3840479"/>
            <a:ext cx="5577842" cy="8412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7"/>
          <p:cNvSpPr/>
          <p:nvPr/>
        </p:nvSpPr>
        <p:spPr>
          <a:xfrm>
            <a:off x="777240" y="3840479"/>
            <a:ext cx="118872" cy="841249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7"/>
          <p:cNvSpPr txBox="1"/>
          <p:nvPr/>
        </p:nvSpPr>
        <p:spPr>
          <a:xfrm>
            <a:off x="1051564" y="4041647"/>
            <a:ext cx="5138920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Sufficient → return edge result to user</a:t>
            </a:r>
            <a:endParaRPr/>
          </a:p>
        </p:txBody>
      </p:sp>
      <p:sp>
        <p:nvSpPr>
          <p:cNvPr id="631" name="Google Shape;631;p27"/>
          <p:cNvSpPr/>
          <p:nvPr/>
        </p:nvSpPr>
        <p:spPr>
          <a:xfrm>
            <a:off x="256032" y="5001767"/>
            <a:ext cx="438912" cy="438913"/>
          </a:xfrm>
          <a:prstGeom prst="ellipse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7"/>
          <p:cNvSpPr txBox="1"/>
          <p:nvPr/>
        </p:nvSpPr>
        <p:spPr>
          <a:xfrm>
            <a:off x="301757" y="5010911"/>
            <a:ext cx="347462" cy="277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33" name="Google Shape;633;p27"/>
          <p:cNvSpPr/>
          <p:nvPr/>
        </p:nvSpPr>
        <p:spPr>
          <a:xfrm>
            <a:off x="777239" y="4800600"/>
            <a:ext cx="5577842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7"/>
          <p:cNvSpPr/>
          <p:nvPr/>
        </p:nvSpPr>
        <p:spPr>
          <a:xfrm>
            <a:off x="777240" y="4800600"/>
            <a:ext cx="118872" cy="841248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7"/>
          <p:cNvSpPr txBox="1"/>
          <p:nvPr/>
        </p:nvSpPr>
        <p:spPr>
          <a:xfrm>
            <a:off x="1051564" y="5001767"/>
            <a:ext cx="5138920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Insufficient → escalate to GPT-4o-mini</a:t>
            </a: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256032" y="5961888"/>
            <a:ext cx="438912" cy="438912"/>
          </a:xfrm>
          <a:prstGeom prst="ellipse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7"/>
          <p:cNvSpPr txBox="1"/>
          <p:nvPr/>
        </p:nvSpPr>
        <p:spPr>
          <a:xfrm>
            <a:off x="301757" y="5971032"/>
            <a:ext cx="347462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38" name="Google Shape;638;p27"/>
          <p:cNvSpPr/>
          <p:nvPr/>
        </p:nvSpPr>
        <p:spPr>
          <a:xfrm>
            <a:off x="777239" y="5760720"/>
            <a:ext cx="5577842" cy="84124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/>
          <p:nvPr/>
        </p:nvSpPr>
        <p:spPr>
          <a:xfrm>
            <a:off x="777240" y="5760720"/>
            <a:ext cx="118872" cy="841249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1051564" y="5961888"/>
            <a:ext cx="5138920" cy="258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Cloud response returned to user</a:t>
            </a:r>
            <a:endParaRPr/>
          </a:p>
        </p:txBody>
      </p:sp>
      <p:sp>
        <p:nvSpPr>
          <p:cNvPr id="641" name="Google Shape;641;p27"/>
          <p:cNvSpPr/>
          <p:nvPr/>
        </p:nvSpPr>
        <p:spPr>
          <a:xfrm>
            <a:off x="6675119" y="960119"/>
            <a:ext cx="5285233" cy="568756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7"/>
          <p:cNvSpPr/>
          <p:nvPr/>
        </p:nvSpPr>
        <p:spPr>
          <a:xfrm>
            <a:off x="6675119" y="960119"/>
            <a:ext cx="5285233" cy="41148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7"/>
          <p:cNvSpPr txBox="1"/>
          <p:nvPr/>
        </p:nvSpPr>
        <p:spPr>
          <a:xfrm>
            <a:off x="6793996" y="1005839"/>
            <a:ext cx="5047551" cy="243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Confidence-Based Routing Workflow</a:t>
            </a:r>
            <a:endParaRPr/>
          </a:p>
        </p:txBody>
      </p:sp>
      <p:sp>
        <p:nvSpPr>
          <p:cNvPr id="644" name="Google Shape;644;p27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7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Routing is evaluated after every edge inference - each prompt independently assessed in real-time.</a:t>
            </a:r>
            <a:endParaRPr/>
          </a:p>
        </p:txBody>
      </p:sp>
      <p:grpSp>
        <p:nvGrpSpPr>
          <p:cNvPr id="646" name="Google Shape;646;p27"/>
          <p:cNvGrpSpPr/>
          <p:nvPr/>
        </p:nvGrpSpPr>
        <p:grpSpPr>
          <a:xfrm>
            <a:off x="7096924" y="1450350"/>
            <a:ext cx="4516753" cy="4941301"/>
            <a:chOff x="0" y="0"/>
            <a:chExt cx="4516752" cy="4941300"/>
          </a:xfrm>
        </p:grpSpPr>
        <p:sp>
          <p:nvSpPr>
            <p:cNvPr id="647" name="Google Shape;647;p27"/>
            <p:cNvSpPr/>
            <p:nvPr/>
          </p:nvSpPr>
          <p:spPr>
            <a:xfrm>
              <a:off x="0" y="0"/>
              <a:ext cx="4516752" cy="4941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1.png" id="648" name="Google Shape;648;p27"/>
            <p:cNvPicPr preferRelativeResize="0"/>
            <p:nvPr/>
          </p:nvPicPr>
          <p:blipFill rotWithShape="1">
            <a:blip r:embed="rId3">
              <a:alphaModFix/>
            </a:blip>
            <a:srcRect b="4086" l="0" r="0" t="0"/>
            <a:stretch/>
          </p:blipFill>
          <p:spPr>
            <a:xfrm>
              <a:off x="0" y="0"/>
              <a:ext cx="4516752" cy="4941300"/>
            </a:xfrm>
            <a:prstGeom prst="rect">
              <a:avLst/>
            </a:prstGeom>
            <a:noFill/>
            <a:ln cap="flat" cmpd="sng" w="9525">
              <a:solidFill>
                <a:srgbClr val="C5D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</p:pic>
      </p:grpSp>
      <p:sp>
        <p:nvSpPr>
          <p:cNvPr id="649" name="Google Shape;649;p27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8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8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Heuristic Routing - Not Entropy-Based Scoring?</a:t>
            </a:r>
            <a:endParaRPr/>
          </a:p>
        </p:txBody>
      </p:sp>
      <p:graphicFrame>
        <p:nvGraphicFramePr>
          <p:cNvPr id="657" name="Google Shape;657;p28"/>
          <p:cNvGraphicFramePr/>
          <p:nvPr/>
        </p:nvGraphicFramePr>
        <p:xfrm>
          <a:off x="320040" y="960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{17CF2D79-044B-4F37-AA53-57F7A1D19B0C}</a:tableStyleId>
              </a:tblPr>
              <a:tblGrid>
                <a:gridCol w="2887225"/>
                <a:gridCol w="4330825"/>
                <a:gridCol w="4330825"/>
              </a:tblGrid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Criterion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Entropy-Based Scoring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Heuristic Length Routing ✓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Computational cost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</a:t>
                      </a:r>
                      <a:r>
                        <a:rPr lang="en-US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full softmax probabilities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Negligible </a:t>
                      </a:r>
                      <a:r>
                        <a:rPr lang="en-US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 length check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Latency impact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Adds 50</a:t>
                      </a:r>
                      <a:r>
                        <a:rPr lang="en-US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200ms overhead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Near-zero, real-time viable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Routing accuracy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semantic precision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838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838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Good proxy for prompt complexity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Implementation effort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Complex, requires logit access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Simple, model-agnostic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Edge hardware viability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Challenging on low-power CPUs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Works on any CPU instantly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</a:tbl>
          </a:graphicData>
        </a:graphic>
      </p:graphicFrame>
      <p:sp>
        <p:nvSpPr>
          <p:cNvPr id="658" name="Google Shape;658;p28"/>
          <p:cNvSpPr/>
          <p:nvPr/>
        </p:nvSpPr>
        <p:spPr>
          <a:xfrm>
            <a:off x="320040" y="5376671"/>
            <a:ext cx="11548872" cy="118872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8"/>
          <p:cNvSpPr txBox="1"/>
          <p:nvPr/>
        </p:nvSpPr>
        <p:spPr>
          <a:xfrm>
            <a:off x="502925" y="5440679"/>
            <a:ext cx="3108950" cy="307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Trade-off</a:t>
            </a:r>
            <a:endParaRPr/>
          </a:p>
        </p:txBody>
      </p:sp>
      <p:sp>
        <p:nvSpPr>
          <p:cNvPr id="660" name="Google Shape;660;p28"/>
          <p:cNvSpPr txBox="1"/>
          <p:nvPr/>
        </p:nvSpPr>
        <p:spPr>
          <a:xfrm>
            <a:off x="502924" y="5833871"/>
            <a:ext cx="11274543" cy="258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Slight routing accuracy loss → Massive latency &amp; complexity gain. For real-time edge AI, this is the right trade-off. Future work: RL-based adaptive routing.</a:t>
            </a:r>
            <a:endParaRPr/>
          </a:p>
        </p:txBody>
      </p:sp>
      <p:sp>
        <p:nvSpPr>
          <p:cNvPr id="661" name="Google Shape;661;p28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9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Experimental Setup - 4 Prompt Complexity Levels</a:t>
            </a:r>
            <a:endParaRPr/>
          </a:p>
        </p:txBody>
      </p:sp>
      <p:graphicFrame>
        <p:nvGraphicFramePr>
          <p:cNvPr id="669" name="Google Shape;669;p29"/>
          <p:cNvGraphicFramePr/>
          <p:nvPr/>
        </p:nvGraphicFramePr>
        <p:xfrm>
          <a:off x="320040" y="960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{17CF2D79-044B-4F37-AA53-57F7A1D19B0C}</a:tableStyleId>
              </a:tblPr>
              <a:tblGrid>
                <a:gridCol w="2740400"/>
                <a:gridCol w="4404225"/>
                <a:gridCol w="1957425"/>
                <a:gridCol w="2446800"/>
              </a:tblGrid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Prompt Category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Example Prompt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Complexity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Expected Route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1B3A6B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"Define edge computing"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Low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Edge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Explanation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"Explain transformer attention"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51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65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Summarization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"Summarize this paragraph"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5100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E651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5F9FF"/>
                    </a:solidFill>
                  </a:tcPr>
                </a:tc>
              </a:tr>
              <a:tr h="74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7E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A237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Comparison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46E7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546E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"CNN vs Transformer: compare"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2828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</a:t>
                      </a:r>
                      <a:endParaRPr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0" name="Google Shape;670;p29"/>
          <p:cNvSpPr/>
          <p:nvPr/>
        </p:nvSpPr>
        <p:spPr>
          <a:xfrm>
            <a:off x="320040" y="4956047"/>
            <a:ext cx="11548872" cy="155448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9"/>
          <p:cNvSpPr txBox="1"/>
          <p:nvPr/>
        </p:nvSpPr>
        <p:spPr>
          <a:xfrm>
            <a:off x="502925" y="5029200"/>
            <a:ext cx="3566151" cy="3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Evaluation Methodology</a:t>
            </a:r>
            <a:endParaRPr/>
          </a:p>
        </p:txBody>
      </p:sp>
      <p:sp>
        <p:nvSpPr>
          <p:cNvPr id="672" name="Google Shape;672;p29"/>
          <p:cNvSpPr txBox="1"/>
          <p:nvPr/>
        </p:nvSpPr>
        <p:spPr>
          <a:xfrm>
            <a:off x="502924" y="5468111"/>
            <a:ext cx="11274543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▸  10 benchmark prompts evaluated end-to-end on CPU-only laptop (no GPU acceleration)</a:t>
            </a:r>
            <a:endParaRPr/>
          </a:p>
        </p:txBody>
      </p:sp>
      <p:sp>
        <p:nvSpPr>
          <p:cNvPr id="673" name="Google Shape;673;p29"/>
          <p:cNvSpPr txBox="1"/>
          <p:nvPr/>
        </p:nvSpPr>
        <p:spPr>
          <a:xfrm>
            <a:off x="502924" y="5852159"/>
            <a:ext cx="11274543" cy="301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▸  Metrics captured: edge latency · cloud latency · routing decision per prompt</a:t>
            </a:r>
            <a:endParaRPr/>
          </a:p>
        </p:txBody>
      </p:sp>
      <p:sp>
        <p:nvSpPr>
          <p:cNvPr id="674" name="Google Shape;674;p29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0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0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Latency Benchmark Results - Speed vs. Quality Trade-off</a:t>
            </a:r>
            <a:endParaRPr/>
          </a:p>
        </p:txBody>
      </p:sp>
      <p:sp>
        <p:nvSpPr>
          <p:cNvPr id="682" name="Google Shape;682;p30"/>
          <p:cNvSpPr/>
          <p:nvPr/>
        </p:nvSpPr>
        <p:spPr>
          <a:xfrm>
            <a:off x="7909559" y="960119"/>
            <a:ext cx="3931921" cy="1783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0"/>
          <p:cNvSpPr/>
          <p:nvPr/>
        </p:nvSpPr>
        <p:spPr>
          <a:xfrm>
            <a:off x="7909559" y="960119"/>
            <a:ext cx="3931921" cy="36576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7955284" y="1371600"/>
            <a:ext cx="3840472" cy="6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0.85s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7955284" y="2148839"/>
            <a:ext cx="3840472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Avg Edge Latency</a:t>
            </a:r>
            <a:endParaRPr/>
          </a:p>
        </p:txBody>
      </p:sp>
      <p:sp>
        <p:nvSpPr>
          <p:cNvPr id="686" name="Google Shape;686;p30"/>
          <p:cNvSpPr/>
          <p:nvPr/>
        </p:nvSpPr>
        <p:spPr>
          <a:xfrm>
            <a:off x="7909559" y="2880360"/>
            <a:ext cx="3931921" cy="178307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0"/>
          <p:cNvSpPr/>
          <p:nvPr/>
        </p:nvSpPr>
        <p:spPr>
          <a:xfrm>
            <a:off x="7909559" y="2880360"/>
            <a:ext cx="3931921" cy="36576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0"/>
          <p:cNvSpPr txBox="1"/>
          <p:nvPr/>
        </p:nvSpPr>
        <p:spPr>
          <a:xfrm>
            <a:off x="7955284" y="3291840"/>
            <a:ext cx="3840472" cy="650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2.65s</a:t>
            </a:r>
            <a:endParaRPr/>
          </a:p>
        </p:txBody>
      </p:sp>
      <p:sp>
        <p:nvSpPr>
          <p:cNvPr id="689" name="Google Shape;689;p30"/>
          <p:cNvSpPr txBox="1"/>
          <p:nvPr/>
        </p:nvSpPr>
        <p:spPr>
          <a:xfrm>
            <a:off x="7955284" y="4069079"/>
            <a:ext cx="3840472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Avg Hybrid Latency</a:t>
            </a:r>
            <a:endParaRPr/>
          </a:p>
        </p:txBody>
      </p:sp>
      <p:sp>
        <p:nvSpPr>
          <p:cNvPr id="690" name="Google Shape;690;p30"/>
          <p:cNvSpPr/>
          <p:nvPr/>
        </p:nvSpPr>
        <p:spPr>
          <a:xfrm>
            <a:off x="7909559" y="4800600"/>
            <a:ext cx="3931921" cy="1783079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0"/>
          <p:cNvSpPr/>
          <p:nvPr/>
        </p:nvSpPr>
        <p:spPr>
          <a:xfrm>
            <a:off x="7909559" y="4800600"/>
            <a:ext cx="3931921" cy="36576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0"/>
          <p:cNvSpPr txBox="1"/>
          <p:nvPr/>
        </p:nvSpPr>
        <p:spPr>
          <a:xfrm>
            <a:off x="7955284" y="5212079"/>
            <a:ext cx="3840472" cy="650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3800"/>
              <a:buFont typeface="Trebuchet MS"/>
              <a:buNone/>
            </a:pPr>
            <a:r>
              <a:rPr b="1" i="0" lang="en-US" sz="3800" u="none" cap="none" strike="noStrike">
                <a:solidFill>
                  <a:srgbClr val="00838F"/>
                </a:solidFill>
                <a:latin typeface="Trebuchet MS"/>
                <a:ea typeface="Trebuchet MS"/>
                <a:cs typeface="Trebuchet MS"/>
                <a:sym typeface="Trebuchet MS"/>
              </a:rPr>
              <a:t>3×</a:t>
            </a:r>
            <a:endParaRPr/>
          </a:p>
        </p:txBody>
      </p:sp>
      <p:sp>
        <p:nvSpPr>
          <p:cNvPr id="693" name="Google Shape;693;p30"/>
          <p:cNvSpPr txBox="1"/>
          <p:nvPr/>
        </p:nvSpPr>
        <p:spPr>
          <a:xfrm>
            <a:off x="7955284" y="5989320"/>
            <a:ext cx="384047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Edge Speed Advantage</a:t>
            </a:r>
            <a:endParaRPr/>
          </a:p>
        </p:txBody>
      </p:sp>
      <p:sp>
        <p:nvSpPr>
          <p:cNvPr id="694" name="Google Shape;694;p30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0"/>
          <p:cNvSpPr txBox="1"/>
          <p:nvPr/>
        </p:nvSpPr>
        <p:spPr>
          <a:xfrm>
            <a:off x="315219" y="6469380"/>
            <a:ext cx="11548862" cy="225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Edge is 3× faster - but only sufficient for ~20% of prompts. Quality justifies the hybrid cost.</a:t>
            </a:r>
            <a:endParaRPr/>
          </a:p>
        </p:txBody>
      </p:sp>
      <p:pic>
        <p:nvPicPr>
          <p:cNvPr id="696" name="Google Shape;696;p3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225" y="1216375"/>
            <a:ext cx="7411419" cy="4582713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0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"/>
          <p:cNvSpPr/>
          <p:nvPr/>
        </p:nvSpPr>
        <p:spPr>
          <a:xfrm>
            <a:off x="-1" y="1270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1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Routing Distribution - Where Did the 10 Prompts Go?</a:t>
            </a:r>
            <a:endParaRPr/>
          </a:p>
        </p:txBody>
      </p:sp>
      <p:sp>
        <p:nvSpPr>
          <p:cNvPr id="705" name="Google Shape;705;p31"/>
          <p:cNvSpPr/>
          <p:nvPr/>
        </p:nvSpPr>
        <p:spPr>
          <a:xfrm>
            <a:off x="7452359" y="1097280"/>
            <a:ext cx="4389121" cy="219456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1"/>
          <p:cNvSpPr txBox="1"/>
          <p:nvPr/>
        </p:nvSpPr>
        <p:spPr>
          <a:xfrm>
            <a:off x="7635244" y="1234439"/>
            <a:ext cx="4023351" cy="476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80% → Cloud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7635244" y="1783079"/>
            <a:ext cx="4023351" cy="46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8 of 10 prompts required GPT-4o-mini for complete, high-quality answers.</a:t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7452359" y="3520440"/>
            <a:ext cx="4389121" cy="219456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7635244" y="3657600"/>
            <a:ext cx="4023351" cy="476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20% → Edge</a:t>
            </a:r>
            <a:endParaRPr/>
          </a:p>
        </p:txBody>
      </p:sp>
      <p:sp>
        <p:nvSpPr>
          <p:cNvPr id="710" name="Google Shape;710;p31"/>
          <p:cNvSpPr txBox="1"/>
          <p:nvPr/>
        </p:nvSpPr>
        <p:spPr>
          <a:xfrm>
            <a:off x="7635244" y="4206240"/>
            <a:ext cx="4023351" cy="461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2 of 10 prompts handled locally - privacy-preserved, zero API cost.</a:t>
            </a:r>
            <a:endParaRPr/>
          </a:p>
        </p:txBody>
      </p:sp>
      <p:sp>
        <p:nvSpPr>
          <p:cNvPr id="711" name="Google Shape;711;p31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1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Edge filtering prevents unnecessary API calls and saves cost for low-complexity user queries.</a:t>
            </a:r>
            <a:endParaRPr/>
          </a:p>
        </p:txBody>
      </p:sp>
      <p:grpSp>
        <p:nvGrpSpPr>
          <p:cNvPr id="713" name="Google Shape;713;p31"/>
          <p:cNvGrpSpPr/>
          <p:nvPr/>
        </p:nvGrpSpPr>
        <p:grpSpPr>
          <a:xfrm>
            <a:off x="320049" y="2650824"/>
            <a:ext cx="5378350" cy="3073321"/>
            <a:chOff x="0" y="0"/>
            <a:chExt cx="5378348" cy="3073320"/>
          </a:xfrm>
        </p:grpSpPr>
        <p:sp>
          <p:nvSpPr>
            <p:cNvPr id="714" name="Google Shape;714;p31"/>
            <p:cNvSpPr/>
            <p:nvPr/>
          </p:nvSpPr>
          <p:spPr>
            <a:xfrm>
              <a:off x="0" y="0"/>
              <a:ext cx="5378348" cy="3073320"/>
            </a:xfrm>
            <a:prstGeom prst="rect">
              <a:avLst/>
            </a:prstGeom>
            <a:solidFill>
              <a:srgbClr val="F0F7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image2.png" id="715" name="Google Shape;715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378348" cy="3073320"/>
            </a:xfrm>
            <a:prstGeom prst="rect">
              <a:avLst/>
            </a:prstGeom>
            <a:noFill/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</p:pic>
      </p:grpSp>
      <p:grpSp>
        <p:nvGrpSpPr>
          <p:cNvPr id="716" name="Google Shape;716;p31"/>
          <p:cNvGrpSpPr/>
          <p:nvPr/>
        </p:nvGrpSpPr>
        <p:grpSpPr>
          <a:xfrm>
            <a:off x="292606" y="914400"/>
            <a:ext cx="3520444" cy="237744"/>
            <a:chOff x="-1" y="0"/>
            <a:chExt cx="3520442" cy="237743"/>
          </a:xfrm>
        </p:grpSpPr>
        <p:sp>
          <p:nvSpPr>
            <p:cNvPr id="717" name="Google Shape;717;p31"/>
            <p:cNvSpPr/>
            <p:nvPr/>
          </p:nvSpPr>
          <p:spPr>
            <a:xfrm>
              <a:off x="-1" y="0"/>
              <a:ext cx="3520442" cy="237743"/>
            </a:xfrm>
            <a:prstGeom prst="rect">
              <a:avLst/>
            </a:prstGeom>
            <a:solidFill>
              <a:srgbClr val="1B3A6B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1"/>
            <p:cNvSpPr txBox="1"/>
            <p:nvPr/>
          </p:nvSpPr>
          <p:spPr>
            <a:xfrm>
              <a:off x="27431" y="29809"/>
              <a:ext cx="3465577" cy="178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BENCHMARK SUMMARY (10 test prompts)</a:t>
              </a:r>
              <a:endParaRPr/>
            </a:p>
          </p:txBody>
        </p:sp>
      </p:grpSp>
      <p:sp>
        <p:nvSpPr>
          <p:cNvPr id="719" name="Google Shape;719;p31"/>
          <p:cNvSpPr/>
          <p:nvPr/>
        </p:nvSpPr>
        <p:spPr>
          <a:xfrm>
            <a:off x="310895" y="1188719"/>
            <a:ext cx="1700785" cy="402337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7B1FA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31"/>
          <p:cNvSpPr txBox="1"/>
          <p:nvPr/>
        </p:nvSpPr>
        <p:spPr>
          <a:xfrm>
            <a:off x="310895" y="1197863"/>
            <a:ext cx="1700785" cy="197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B1FA2"/>
                </a:solidFill>
                <a:latin typeface="Arial"/>
                <a:ea typeface="Arial"/>
                <a:cs typeface="Arial"/>
                <a:sym typeface="Arial"/>
              </a:rPr>
              <a:t>8 / 10</a:t>
            </a:r>
            <a:endParaRPr/>
          </a:p>
        </p:txBody>
      </p:sp>
      <p:sp>
        <p:nvSpPr>
          <p:cNvPr id="721" name="Google Shape;721;p31"/>
          <p:cNvSpPr txBox="1"/>
          <p:nvPr/>
        </p:nvSpPr>
        <p:spPr>
          <a:xfrm>
            <a:off x="310895" y="1426463"/>
            <a:ext cx="1700785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Routed to Cloud</a:t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2103120" y="1188719"/>
            <a:ext cx="1700785" cy="402337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2103120" y="1197863"/>
            <a:ext cx="1700785" cy="197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2 / 10</a:t>
            </a:r>
            <a:endParaRPr/>
          </a:p>
        </p:txBody>
      </p:sp>
      <p:sp>
        <p:nvSpPr>
          <p:cNvPr id="724" name="Google Shape;724;p31"/>
          <p:cNvSpPr txBox="1"/>
          <p:nvPr/>
        </p:nvSpPr>
        <p:spPr>
          <a:xfrm>
            <a:off x="2103120" y="1426463"/>
            <a:ext cx="1700785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Handled on Edge</a:t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>
            <a:off x="310895" y="1664207"/>
            <a:ext cx="1700785" cy="402337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1"/>
          <p:cNvSpPr txBox="1"/>
          <p:nvPr/>
        </p:nvSpPr>
        <p:spPr>
          <a:xfrm>
            <a:off x="310895" y="1673351"/>
            <a:ext cx="1700785" cy="197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endParaRPr/>
          </a:p>
        </p:txBody>
      </p:sp>
      <p:sp>
        <p:nvSpPr>
          <p:cNvPr id="727" name="Google Shape;727;p31"/>
          <p:cNvSpPr txBox="1"/>
          <p:nvPr/>
        </p:nvSpPr>
        <p:spPr>
          <a:xfrm>
            <a:off x="310895" y="1901951"/>
            <a:ext cx="1700785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Cloud Escalation</a:t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2103120" y="1664207"/>
            <a:ext cx="1700785" cy="402337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1"/>
          <p:cNvSpPr txBox="1"/>
          <p:nvPr/>
        </p:nvSpPr>
        <p:spPr>
          <a:xfrm>
            <a:off x="2103120" y="1673351"/>
            <a:ext cx="1700785" cy="197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38F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endParaRPr/>
          </a:p>
        </p:txBody>
      </p:sp>
      <p:sp>
        <p:nvSpPr>
          <p:cNvPr id="730" name="Google Shape;730;p31"/>
          <p:cNvSpPr txBox="1"/>
          <p:nvPr/>
        </p:nvSpPr>
        <p:spPr>
          <a:xfrm>
            <a:off x="2103120" y="1901951"/>
            <a:ext cx="1700785" cy="1270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Edge Sufficient</a:t>
            </a:r>
            <a:endParaRPr/>
          </a:p>
        </p:txBody>
      </p:sp>
      <p:sp>
        <p:nvSpPr>
          <p:cNvPr id="731" name="Google Shape;731;p31"/>
          <p:cNvSpPr/>
          <p:nvPr/>
        </p:nvSpPr>
        <p:spPr>
          <a:xfrm>
            <a:off x="292607" y="2203704"/>
            <a:ext cx="3520442" cy="274321"/>
          </a:xfrm>
          <a:prstGeom prst="rect">
            <a:avLst/>
          </a:prstGeom>
          <a:solidFill>
            <a:srgbClr val="0D2B55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1"/>
          <p:cNvSpPr txBox="1"/>
          <p:nvPr/>
        </p:nvSpPr>
        <p:spPr>
          <a:xfrm>
            <a:off x="356615" y="2212848"/>
            <a:ext cx="3392425" cy="214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Edge filtering saves ~80% unnecessary API cost</a:t>
            </a:r>
            <a:endParaRPr/>
          </a:p>
        </p:txBody>
      </p:sp>
      <p:sp>
        <p:nvSpPr>
          <p:cNvPr id="733" name="Google Shape;733;p31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2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2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the Results Tell Us - 4 Key Insights</a:t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320039" y="960119"/>
            <a:ext cx="5760722" cy="2743201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320040" y="960119"/>
            <a:ext cx="1005840" cy="274320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 txBox="1"/>
          <p:nvPr/>
        </p:nvSpPr>
        <p:spPr>
          <a:xfrm>
            <a:off x="365765" y="1783079"/>
            <a:ext cx="914389" cy="49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/>
          </a:p>
        </p:txBody>
      </p:sp>
      <p:sp>
        <p:nvSpPr>
          <p:cNvPr id="744" name="Google Shape;744;p32"/>
          <p:cNvSpPr txBox="1"/>
          <p:nvPr/>
        </p:nvSpPr>
        <p:spPr>
          <a:xfrm>
            <a:off x="1508764" y="1188719"/>
            <a:ext cx="4343392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Effective Heuristic</a:t>
            </a:r>
            <a:endParaRPr/>
          </a:p>
        </p:txBody>
      </p:sp>
      <p:sp>
        <p:nvSpPr>
          <p:cNvPr id="745" name="Google Shape;745;p32"/>
          <p:cNvSpPr txBox="1"/>
          <p:nvPr/>
        </p:nvSpPr>
        <p:spPr>
          <a:xfrm>
            <a:off x="1508765" y="1764792"/>
            <a:ext cx="43434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Response-length is a surprisingly accurate proxy for prompt complexity - simple but powerful.</a:t>
            </a:r>
            <a:endParaRPr/>
          </a:p>
        </p:txBody>
      </p:sp>
      <p:sp>
        <p:nvSpPr>
          <p:cNvPr id="746" name="Google Shape;746;p32"/>
          <p:cNvSpPr/>
          <p:nvPr/>
        </p:nvSpPr>
        <p:spPr>
          <a:xfrm>
            <a:off x="6309359" y="960119"/>
            <a:ext cx="5760721" cy="2743201"/>
          </a:xfrm>
          <a:prstGeom prst="rect">
            <a:avLst/>
          </a:prstGeom>
          <a:solidFill>
            <a:srgbClr val="E8F5E9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2"/>
          <p:cNvSpPr/>
          <p:nvPr/>
        </p:nvSpPr>
        <p:spPr>
          <a:xfrm>
            <a:off x="6309359" y="960119"/>
            <a:ext cx="1005840" cy="27432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6355084" y="1783079"/>
            <a:ext cx="914390" cy="49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/>
          </a:p>
        </p:txBody>
      </p:sp>
      <p:sp>
        <p:nvSpPr>
          <p:cNvPr id="749" name="Google Shape;749;p32"/>
          <p:cNvSpPr txBox="1"/>
          <p:nvPr/>
        </p:nvSpPr>
        <p:spPr>
          <a:xfrm>
            <a:off x="7498084" y="1188719"/>
            <a:ext cx="434339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Latency Preserved</a:t>
            </a:r>
            <a:endParaRPr/>
          </a:p>
        </p:txBody>
      </p:sp>
      <p:sp>
        <p:nvSpPr>
          <p:cNvPr id="750" name="Google Shape;750;p32"/>
          <p:cNvSpPr txBox="1"/>
          <p:nvPr/>
        </p:nvSpPr>
        <p:spPr>
          <a:xfrm>
            <a:off x="7498084" y="1764792"/>
            <a:ext cx="43434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Hybrid routing keeps ~20% of queries on edge with sub-second latency - matching user expectations.</a:t>
            </a:r>
            <a:endParaRPr/>
          </a:p>
        </p:txBody>
      </p:sp>
      <p:sp>
        <p:nvSpPr>
          <p:cNvPr id="751" name="Google Shape;751;p32"/>
          <p:cNvSpPr/>
          <p:nvPr/>
        </p:nvSpPr>
        <p:spPr>
          <a:xfrm>
            <a:off x="320039" y="3886200"/>
            <a:ext cx="5760722" cy="274320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320040" y="3886200"/>
            <a:ext cx="1005840" cy="2743200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2"/>
          <p:cNvSpPr txBox="1"/>
          <p:nvPr/>
        </p:nvSpPr>
        <p:spPr>
          <a:xfrm>
            <a:off x="365765" y="4709159"/>
            <a:ext cx="914389" cy="49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/>
          </a:p>
        </p:txBody>
      </p:sp>
      <p:sp>
        <p:nvSpPr>
          <p:cNvPr id="754" name="Google Shape;754;p32"/>
          <p:cNvSpPr txBox="1"/>
          <p:nvPr/>
        </p:nvSpPr>
        <p:spPr>
          <a:xfrm>
            <a:off x="1508764" y="4114800"/>
            <a:ext cx="4343392" cy="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838F"/>
                </a:solidFill>
                <a:latin typeface="Trebuchet MS"/>
                <a:ea typeface="Trebuchet MS"/>
                <a:cs typeface="Trebuchet MS"/>
                <a:sym typeface="Trebuchet MS"/>
              </a:rPr>
              <a:t>Quality Improves</a:t>
            </a:r>
            <a:endParaRPr/>
          </a:p>
        </p:txBody>
      </p:sp>
      <p:sp>
        <p:nvSpPr>
          <p:cNvPr id="755" name="Google Shape;755;p32"/>
          <p:cNvSpPr txBox="1"/>
          <p:nvPr/>
        </p:nvSpPr>
        <p:spPr>
          <a:xfrm>
            <a:off x="1508764" y="4690871"/>
            <a:ext cx="4343392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Cloud escalation ensures complete, accurate answers without degrading performance on simple queries.</a:t>
            </a: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6309359" y="3886200"/>
            <a:ext cx="5760721" cy="2743200"/>
          </a:xfrm>
          <a:prstGeom prst="rect">
            <a:avLst/>
          </a:prstGeom>
          <a:solidFill>
            <a:srgbClr val="F3E5F5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2"/>
          <p:cNvSpPr/>
          <p:nvPr/>
        </p:nvSpPr>
        <p:spPr>
          <a:xfrm>
            <a:off x="6309359" y="3886200"/>
            <a:ext cx="1005840" cy="2743200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2"/>
          <p:cNvSpPr txBox="1"/>
          <p:nvPr/>
        </p:nvSpPr>
        <p:spPr>
          <a:xfrm>
            <a:off x="6355084" y="4709159"/>
            <a:ext cx="914390" cy="49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/>
          </a:p>
        </p:txBody>
      </p:sp>
      <p:sp>
        <p:nvSpPr>
          <p:cNvPr id="759" name="Google Shape;759;p32"/>
          <p:cNvSpPr txBox="1"/>
          <p:nvPr/>
        </p:nvSpPr>
        <p:spPr>
          <a:xfrm>
            <a:off x="7498084" y="4114800"/>
            <a:ext cx="4343391" cy="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  <a:t>Adaptive System</a:t>
            </a:r>
            <a:endParaRPr/>
          </a:p>
        </p:txBody>
      </p:sp>
      <p:sp>
        <p:nvSpPr>
          <p:cNvPr id="760" name="Google Shape;760;p32"/>
          <p:cNvSpPr txBox="1"/>
          <p:nvPr/>
        </p:nvSpPr>
        <p:spPr>
          <a:xfrm>
            <a:off x="7498084" y="4690871"/>
            <a:ext cx="43434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Decisions are based on actual output quality -  not fixed rules. The system responds dynamically.</a:t>
            </a:r>
            <a:endParaRPr/>
          </a:p>
        </p:txBody>
      </p:sp>
      <p:pic>
        <p:nvPicPr>
          <p:cNvPr descr="Picture 602" id="761" name="Google Shape;7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2487167"/>
            <a:ext cx="1920241" cy="1097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03" id="762" name="Google Shape;76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1240" y="2487167"/>
            <a:ext cx="1920241" cy="1097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04" id="763" name="Google Shape;76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31920" y="5376671"/>
            <a:ext cx="1920241" cy="1097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605" id="764" name="Google Shape;76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1240" y="5376671"/>
            <a:ext cx="1920241" cy="1097281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32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3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3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3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Limitations of Current Work - Honest Gaps</a:t>
            </a:r>
            <a:endParaRPr/>
          </a:p>
        </p:txBody>
      </p:sp>
      <p:sp>
        <p:nvSpPr>
          <p:cNvPr id="773" name="Google Shape;773;p33"/>
          <p:cNvSpPr/>
          <p:nvPr/>
        </p:nvSpPr>
        <p:spPr>
          <a:xfrm>
            <a:off x="320040" y="987552"/>
            <a:ext cx="11548872" cy="868681"/>
          </a:xfrm>
          <a:prstGeom prst="rect">
            <a:avLst/>
          </a:prstGeom>
          <a:solidFill>
            <a:srgbClr val="FFF8F8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3"/>
          <p:cNvSpPr/>
          <p:nvPr/>
        </p:nvSpPr>
        <p:spPr>
          <a:xfrm>
            <a:off x="320040" y="987552"/>
            <a:ext cx="164593" cy="86868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3"/>
          <p:cNvSpPr txBox="1"/>
          <p:nvPr/>
        </p:nvSpPr>
        <p:spPr>
          <a:xfrm>
            <a:off x="640085" y="1078991"/>
            <a:ext cx="37490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⚠  Routing Signal Weakness</a:t>
            </a:r>
            <a:endParaRPr/>
          </a:p>
        </p:txBody>
      </p:sp>
      <p:sp>
        <p:nvSpPr>
          <p:cNvPr id="776" name="Google Shape;776;p33"/>
          <p:cNvSpPr txBox="1"/>
          <p:nvPr/>
        </p:nvSpPr>
        <p:spPr>
          <a:xfrm>
            <a:off x="640084" y="1481327"/>
            <a:ext cx="11000151" cy="24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Response-length only - no semantic confidence, no intent classification, no topic modeling.</a:t>
            </a:r>
            <a:endParaRPr/>
          </a:p>
        </p:txBody>
      </p:sp>
      <p:sp>
        <p:nvSpPr>
          <p:cNvPr id="777" name="Google Shape;777;p33"/>
          <p:cNvSpPr/>
          <p:nvPr/>
        </p:nvSpPr>
        <p:spPr>
          <a:xfrm>
            <a:off x="320040" y="1947672"/>
            <a:ext cx="11548872" cy="8686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3"/>
          <p:cNvSpPr/>
          <p:nvPr/>
        </p:nvSpPr>
        <p:spPr>
          <a:xfrm>
            <a:off x="320040" y="1947672"/>
            <a:ext cx="164593" cy="86868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3"/>
          <p:cNvSpPr txBox="1"/>
          <p:nvPr/>
        </p:nvSpPr>
        <p:spPr>
          <a:xfrm>
            <a:off x="640085" y="2039111"/>
            <a:ext cx="37490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⚠  No Contextual Adaptation</a:t>
            </a:r>
            <a:endParaRPr/>
          </a:p>
        </p:txBody>
      </p:sp>
      <p:sp>
        <p:nvSpPr>
          <p:cNvPr id="780" name="Google Shape;780;p33"/>
          <p:cNvSpPr txBox="1"/>
          <p:nvPr/>
        </p:nvSpPr>
        <p:spPr>
          <a:xfrm>
            <a:off x="640085" y="2441448"/>
            <a:ext cx="11000222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Routing ignores user history, session context, or prior successful routing patterns.</a:t>
            </a:r>
            <a:endParaRPr/>
          </a:p>
        </p:txBody>
      </p:sp>
      <p:sp>
        <p:nvSpPr>
          <p:cNvPr id="781" name="Google Shape;781;p33"/>
          <p:cNvSpPr/>
          <p:nvPr/>
        </p:nvSpPr>
        <p:spPr>
          <a:xfrm>
            <a:off x="320040" y="2907792"/>
            <a:ext cx="11548872" cy="868681"/>
          </a:xfrm>
          <a:prstGeom prst="rect">
            <a:avLst/>
          </a:prstGeom>
          <a:solidFill>
            <a:srgbClr val="FFF8F8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3"/>
          <p:cNvSpPr/>
          <p:nvPr/>
        </p:nvSpPr>
        <p:spPr>
          <a:xfrm>
            <a:off x="320040" y="2907792"/>
            <a:ext cx="164593" cy="86868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3"/>
          <p:cNvSpPr txBox="1"/>
          <p:nvPr/>
        </p:nvSpPr>
        <p:spPr>
          <a:xfrm>
            <a:off x="640085" y="2999232"/>
            <a:ext cx="37490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⚠  Instruction-Tuning Gap</a:t>
            </a:r>
            <a:endParaRPr/>
          </a:p>
        </p:txBody>
      </p:sp>
      <p:sp>
        <p:nvSpPr>
          <p:cNvPr id="784" name="Google Shape;784;p33"/>
          <p:cNvSpPr txBox="1"/>
          <p:nvPr/>
        </p:nvSpPr>
        <p:spPr>
          <a:xfrm>
            <a:off x="640084" y="3401567"/>
            <a:ext cx="11000151" cy="248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DistilGPT2 lacks instruction fine-tuning - struggles with directive and task-specific prompts.</a:t>
            </a:r>
            <a:endParaRPr/>
          </a:p>
        </p:txBody>
      </p:sp>
      <p:sp>
        <p:nvSpPr>
          <p:cNvPr id="785" name="Google Shape;785;p33"/>
          <p:cNvSpPr/>
          <p:nvPr/>
        </p:nvSpPr>
        <p:spPr>
          <a:xfrm>
            <a:off x="320040" y="3867911"/>
            <a:ext cx="11548872" cy="8686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3"/>
          <p:cNvSpPr/>
          <p:nvPr/>
        </p:nvSpPr>
        <p:spPr>
          <a:xfrm>
            <a:off x="320040" y="3867911"/>
            <a:ext cx="164593" cy="86868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3"/>
          <p:cNvSpPr txBox="1"/>
          <p:nvPr/>
        </p:nvSpPr>
        <p:spPr>
          <a:xfrm>
            <a:off x="640085" y="3959352"/>
            <a:ext cx="37490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⚠  Static Thresholds</a:t>
            </a:r>
            <a:endParaRPr/>
          </a:p>
        </p:txBody>
      </p:sp>
      <p:sp>
        <p:nvSpPr>
          <p:cNvPr id="788" name="Google Shape;788;p33"/>
          <p:cNvSpPr txBox="1"/>
          <p:nvPr/>
        </p:nvSpPr>
        <p:spPr>
          <a:xfrm>
            <a:off x="640084" y="4361688"/>
            <a:ext cx="11000151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Routing threshold is fixed - doesn't adapt to server load or usage patterns over time.</a:t>
            </a:r>
            <a:endParaRPr/>
          </a:p>
        </p:txBody>
      </p:sp>
      <p:sp>
        <p:nvSpPr>
          <p:cNvPr id="789" name="Google Shape;789;p33"/>
          <p:cNvSpPr/>
          <p:nvPr/>
        </p:nvSpPr>
        <p:spPr>
          <a:xfrm>
            <a:off x="320040" y="4828032"/>
            <a:ext cx="11548872" cy="868681"/>
          </a:xfrm>
          <a:prstGeom prst="rect">
            <a:avLst/>
          </a:prstGeom>
          <a:solidFill>
            <a:srgbClr val="FFF8F8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3"/>
          <p:cNvSpPr/>
          <p:nvPr/>
        </p:nvSpPr>
        <p:spPr>
          <a:xfrm>
            <a:off x="320040" y="4828032"/>
            <a:ext cx="164593" cy="86868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3"/>
          <p:cNvSpPr txBox="1"/>
          <p:nvPr/>
        </p:nvSpPr>
        <p:spPr>
          <a:xfrm>
            <a:off x="640085" y="4919471"/>
            <a:ext cx="37490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⚠  Limited Evaluation Scale</a:t>
            </a:r>
            <a:endParaRPr/>
          </a:p>
        </p:txBody>
      </p:sp>
      <p:sp>
        <p:nvSpPr>
          <p:cNvPr id="792" name="Google Shape;792;p33"/>
          <p:cNvSpPr txBox="1"/>
          <p:nvPr/>
        </p:nvSpPr>
        <p:spPr>
          <a:xfrm>
            <a:off x="640084" y="5321808"/>
            <a:ext cx="11000151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Only 10 prompts benchmarked - standardized benchmarks (GLUE, SuperGLUE) needed for validity.</a:t>
            </a:r>
            <a:endParaRPr/>
          </a:p>
        </p:txBody>
      </p:sp>
      <p:sp>
        <p:nvSpPr>
          <p:cNvPr id="793" name="Google Shape;793;p33"/>
          <p:cNvSpPr/>
          <p:nvPr/>
        </p:nvSpPr>
        <p:spPr>
          <a:xfrm>
            <a:off x="320040" y="5788152"/>
            <a:ext cx="11548872" cy="86868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/>
          <p:nvPr/>
        </p:nvSpPr>
        <p:spPr>
          <a:xfrm>
            <a:off x="320040" y="5788152"/>
            <a:ext cx="164593" cy="868681"/>
          </a:xfrm>
          <a:prstGeom prst="rect">
            <a:avLst/>
          </a:prstGeom>
          <a:solidFill>
            <a:srgbClr val="C6282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 txBox="1"/>
          <p:nvPr/>
        </p:nvSpPr>
        <p:spPr>
          <a:xfrm>
            <a:off x="640085" y="5879591"/>
            <a:ext cx="3749031" cy="294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Trebuchet MS"/>
                <a:ea typeface="Trebuchet MS"/>
                <a:cs typeface="Trebuchet MS"/>
                <a:sym typeface="Trebuchet MS"/>
              </a:rPr>
              <a:t>⚠  Text-Only Pipeline</a:t>
            </a:r>
            <a:endParaRPr/>
          </a:p>
        </p:txBody>
      </p:sp>
      <p:sp>
        <p:nvSpPr>
          <p:cNvPr id="796" name="Google Shape;796;p33"/>
          <p:cNvSpPr txBox="1"/>
          <p:nvPr/>
        </p:nvSpPr>
        <p:spPr>
          <a:xfrm>
            <a:off x="640084" y="6139383"/>
            <a:ext cx="11000151" cy="248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No multimodal support. Modern AI increasingly requires vision, audio, and text together.</a:t>
            </a:r>
            <a:endParaRPr/>
          </a:p>
        </p:txBody>
      </p:sp>
      <p:sp>
        <p:nvSpPr>
          <p:cNvPr id="797" name="Google Shape;797;p33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3"/>
          <p:cNvSpPr txBox="1"/>
          <p:nvPr/>
        </p:nvSpPr>
        <p:spPr>
          <a:xfrm>
            <a:off x="320045" y="6510528"/>
            <a:ext cx="11548862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Acknowledging limitations is the first step toward building more robust distributed inference systems.</a:t>
            </a:r>
            <a:endParaRPr/>
          </a:p>
        </p:txBody>
      </p:sp>
      <p:sp>
        <p:nvSpPr>
          <p:cNvPr id="799" name="Google Shape;799;p33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4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4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4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Deployment Considerations - Lab to Real World</a:t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>
            <a:off x="320039" y="960119"/>
            <a:ext cx="5760722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4"/>
          <p:cNvSpPr/>
          <p:nvPr/>
        </p:nvSpPr>
        <p:spPr>
          <a:xfrm>
            <a:off x="320040" y="960119"/>
            <a:ext cx="164593" cy="182880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4"/>
          <p:cNvSpPr txBox="1"/>
          <p:nvPr/>
        </p:nvSpPr>
        <p:spPr>
          <a:xfrm>
            <a:off x="685805" y="1124711"/>
            <a:ext cx="5166351" cy="383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565C0"/>
                </a:solidFill>
                <a:latin typeface="Trebuchet MS"/>
                <a:ea typeface="Trebuchet MS"/>
                <a:cs typeface="Trebuchet MS"/>
                <a:sym typeface="Trebuchet MS"/>
              </a:rPr>
              <a:t>📡  Connectivity Resilience</a:t>
            </a:r>
            <a:endParaRPr/>
          </a:p>
        </p:txBody>
      </p:sp>
      <p:sp>
        <p:nvSpPr>
          <p:cNvPr id="810" name="Google Shape;810;p34"/>
          <p:cNvSpPr txBox="1"/>
          <p:nvPr/>
        </p:nvSpPr>
        <p:spPr>
          <a:xfrm>
            <a:off x="685805" y="1600200"/>
            <a:ext cx="5166351" cy="438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Implement offline fallback mode. If cloud API is unreachable, serve best available edge response.</a:t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6309359" y="960119"/>
            <a:ext cx="5760721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4"/>
          <p:cNvSpPr/>
          <p:nvPr/>
        </p:nvSpPr>
        <p:spPr>
          <a:xfrm>
            <a:off x="6309359" y="960119"/>
            <a:ext cx="164593" cy="1828801"/>
          </a:xfrm>
          <a:prstGeom prst="rect">
            <a:avLst/>
          </a:prstGeom>
          <a:solidFill>
            <a:srgbClr val="2E7D3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4"/>
          <p:cNvSpPr txBox="1"/>
          <p:nvPr/>
        </p:nvSpPr>
        <p:spPr>
          <a:xfrm>
            <a:off x="6675124" y="1124711"/>
            <a:ext cx="5166351" cy="383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2E7D32"/>
                </a:solidFill>
                <a:latin typeface="Trebuchet MS"/>
                <a:ea typeface="Trebuchet MS"/>
                <a:cs typeface="Trebuchet MS"/>
                <a:sym typeface="Trebuchet MS"/>
              </a:rPr>
              <a:t>🎚  Threshold Tuning</a:t>
            </a:r>
            <a:endParaRPr/>
          </a:p>
        </p:txBody>
      </p:sp>
      <p:sp>
        <p:nvSpPr>
          <p:cNvPr id="814" name="Google Shape;814;p34"/>
          <p:cNvSpPr txBox="1"/>
          <p:nvPr/>
        </p:nvSpPr>
        <p:spPr>
          <a:xfrm>
            <a:off x="6675124" y="1600200"/>
            <a:ext cx="5166351" cy="438765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Routing thresholds must be calibrated per deployment domain - medical applications differ from casual chat.</a:t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320039" y="2898648"/>
            <a:ext cx="5760722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4"/>
          <p:cNvSpPr/>
          <p:nvPr/>
        </p:nvSpPr>
        <p:spPr>
          <a:xfrm>
            <a:off x="320040" y="2898648"/>
            <a:ext cx="164593" cy="1828801"/>
          </a:xfrm>
          <a:prstGeom prst="rect">
            <a:avLst/>
          </a:prstGeom>
          <a:solidFill>
            <a:srgbClr val="E6510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4"/>
          <p:cNvSpPr txBox="1"/>
          <p:nvPr/>
        </p:nvSpPr>
        <p:spPr>
          <a:xfrm>
            <a:off x="685805" y="3063239"/>
            <a:ext cx="5166351" cy="383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5100"/>
                </a:solidFill>
                <a:latin typeface="Trebuchet MS"/>
                <a:ea typeface="Trebuchet MS"/>
                <a:cs typeface="Trebuchet MS"/>
                <a:sym typeface="Trebuchet MS"/>
              </a:rPr>
              <a:t>💰  API Cost Management</a:t>
            </a:r>
            <a:endParaRPr/>
          </a:p>
        </p:txBody>
      </p:sp>
      <p:sp>
        <p:nvSpPr>
          <p:cNvPr id="818" name="Google Shape;818;p34"/>
          <p:cNvSpPr txBox="1"/>
          <p:nvPr/>
        </p:nvSpPr>
        <p:spPr>
          <a:xfrm>
            <a:off x="685805" y="3538728"/>
            <a:ext cx="5166351" cy="4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Avoid unnecessary cloud escalations. Over-routing to cloud is expensive at scale - tune conservatively.</a:t>
            </a:r>
            <a:endParaRPr/>
          </a:p>
        </p:txBody>
      </p:sp>
      <p:sp>
        <p:nvSpPr>
          <p:cNvPr id="819" name="Google Shape;819;p34"/>
          <p:cNvSpPr/>
          <p:nvPr/>
        </p:nvSpPr>
        <p:spPr>
          <a:xfrm>
            <a:off x="6309359" y="2898648"/>
            <a:ext cx="5760721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4"/>
          <p:cNvSpPr/>
          <p:nvPr/>
        </p:nvSpPr>
        <p:spPr>
          <a:xfrm>
            <a:off x="6309359" y="2898648"/>
            <a:ext cx="164593" cy="1828801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4"/>
          <p:cNvSpPr txBox="1"/>
          <p:nvPr/>
        </p:nvSpPr>
        <p:spPr>
          <a:xfrm>
            <a:off x="6675124" y="3063239"/>
            <a:ext cx="5166351" cy="383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7B1FA2"/>
                </a:solidFill>
                <a:latin typeface="Trebuchet MS"/>
                <a:ea typeface="Trebuchet MS"/>
                <a:cs typeface="Trebuchet MS"/>
                <a:sym typeface="Trebuchet MS"/>
              </a:rPr>
              <a:t>🔒  Privacy-First Deployments</a:t>
            </a:r>
            <a:endParaRPr/>
          </a:p>
        </p:txBody>
      </p:sp>
      <p:sp>
        <p:nvSpPr>
          <p:cNvPr id="822" name="Google Shape;822;p34"/>
          <p:cNvSpPr txBox="1"/>
          <p:nvPr/>
        </p:nvSpPr>
        <p:spPr>
          <a:xfrm>
            <a:off x="6675124" y="3538728"/>
            <a:ext cx="5166351" cy="4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Sensitive apps (healthcare, legal) should maximize edge usage and strictly limit cloud calls.</a:t>
            </a:r>
            <a:endParaRPr/>
          </a:p>
        </p:txBody>
      </p:sp>
      <p:sp>
        <p:nvSpPr>
          <p:cNvPr id="823" name="Google Shape;823;p34"/>
          <p:cNvSpPr/>
          <p:nvPr/>
        </p:nvSpPr>
        <p:spPr>
          <a:xfrm>
            <a:off x="320039" y="4837176"/>
            <a:ext cx="5760722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320040" y="4837176"/>
            <a:ext cx="164593" cy="182880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4"/>
          <p:cNvSpPr txBox="1"/>
          <p:nvPr/>
        </p:nvSpPr>
        <p:spPr>
          <a:xfrm>
            <a:off x="685805" y="5001767"/>
            <a:ext cx="5166351" cy="383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838F"/>
                </a:solidFill>
                <a:latin typeface="Trebuchet MS"/>
                <a:ea typeface="Trebuchet MS"/>
                <a:cs typeface="Trebuchet MS"/>
                <a:sym typeface="Trebuchet MS"/>
              </a:rPr>
              <a:t>⚡  Latency Budget Awareness</a:t>
            </a:r>
            <a:endParaRPr/>
          </a:p>
        </p:txBody>
      </p:sp>
      <p:sp>
        <p:nvSpPr>
          <p:cNvPr id="826" name="Google Shape;826;p34"/>
          <p:cNvSpPr txBox="1"/>
          <p:nvPr/>
        </p:nvSpPr>
        <p:spPr>
          <a:xfrm>
            <a:off x="685805" y="5477255"/>
            <a:ext cx="5166351" cy="4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Chat tolerates 2-3s; real-time voice requires &lt;500ms. Routing policies must match application latency budgets.</a:t>
            </a:r>
            <a:endParaRPr/>
          </a:p>
        </p:txBody>
      </p:sp>
      <p:sp>
        <p:nvSpPr>
          <p:cNvPr id="827" name="Google Shape;827;p34"/>
          <p:cNvSpPr/>
          <p:nvPr/>
        </p:nvSpPr>
        <p:spPr>
          <a:xfrm>
            <a:off x="6309359" y="4837176"/>
            <a:ext cx="5760721" cy="182880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/>
          <p:nvPr/>
        </p:nvSpPr>
        <p:spPr>
          <a:xfrm>
            <a:off x="6309359" y="4837176"/>
            <a:ext cx="164593" cy="182880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4"/>
          <p:cNvSpPr txBox="1"/>
          <p:nvPr/>
        </p:nvSpPr>
        <p:spPr>
          <a:xfrm>
            <a:off x="6675124" y="5001767"/>
            <a:ext cx="5166351" cy="383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B3A6B"/>
                </a:solidFill>
                <a:latin typeface="Trebuchet MS"/>
                <a:ea typeface="Trebuchet MS"/>
                <a:cs typeface="Trebuchet MS"/>
                <a:sym typeface="Trebuchet MS"/>
              </a:rPr>
              <a:t>🧪  A/B Testing Framework</a:t>
            </a:r>
            <a:endParaRPr/>
          </a:p>
        </p:txBody>
      </p:sp>
      <p:sp>
        <p:nvSpPr>
          <p:cNvPr id="830" name="Google Shape;830;p34"/>
          <p:cNvSpPr txBox="1"/>
          <p:nvPr/>
        </p:nvSpPr>
        <p:spPr>
          <a:xfrm>
            <a:off x="6675124" y="5477255"/>
            <a:ext cx="5166351" cy="438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Modular design enables side-by-side testing of routing policies without system downtime.</a:t>
            </a:r>
            <a:endParaRPr/>
          </a:p>
        </p:txBody>
      </p:sp>
      <p:sp>
        <p:nvSpPr>
          <p:cNvPr id="831" name="Google Shape;831;p34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5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35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5"/>
          <p:cNvSpPr txBox="1"/>
          <p:nvPr/>
        </p:nvSpPr>
        <p:spPr>
          <a:xfrm>
            <a:off x="365764" y="91440"/>
            <a:ext cx="11457352" cy="447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Future Research Directions - What Comes Next</a:t>
            </a:r>
            <a:endParaRPr/>
          </a:p>
        </p:txBody>
      </p:sp>
      <p:sp>
        <p:nvSpPr>
          <p:cNvPr id="839" name="Google Shape;839;p35"/>
          <p:cNvSpPr/>
          <p:nvPr/>
        </p:nvSpPr>
        <p:spPr>
          <a:xfrm>
            <a:off x="320040" y="960119"/>
            <a:ext cx="3657601" cy="534924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35"/>
          <p:cNvSpPr/>
          <p:nvPr/>
        </p:nvSpPr>
        <p:spPr>
          <a:xfrm>
            <a:off x="320040" y="960119"/>
            <a:ext cx="3657601" cy="594361"/>
          </a:xfrm>
          <a:prstGeom prst="rect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5"/>
          <p:cNvSpPr txBox="1"/>
          <p:nvPr/>
        </p:nvSpPr>
        <p:spPr>
          <a:xfrm>
            <a:off x="457203" y="1005839"/>
            <a:ext cx="3383272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Near-Term</a:t>
            </a:r>
            <a:endParaRPr/>
          </a:p>
        </p:txBody>
      </p:sp>
      <p:sp>
        <p:nvSpPr>
          <p:cNvPr id="842" name="Google Shape;842;p35"/>
          <p:cNvSpPr/>
          <p:nvPr/>
        </p:nvSpPr>
        <p:spPr>
          <a:xfrm>
            <a:off x="548640" y="1920239"/>
            <a:ext cx="384049" cy="384049"/>
          </a:xfrm>
          <a:prstGeom prst="ellipse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5"/>
          <p:cNvSpPr txBox="1"/>
          <p:nvPr/>
        </p:nvSpPr>
        <p:spPr>
          <a:xfrm>
            <a:off x="594365" y="1929383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/>
          </a:p>
        </p:txBody>
      </p:sp>
      <p:sp>
        <p:nvSpPr>
          <p:cNvPr id="844" name="Google Shape;844;p35"/>
          <p:cNvSpPr txBox="1"/>
          <p:nvPr/>
        </p:nvSpPr>
        <p:spPr>
          <a:xfrm>
            <a:off x="1097285" y="1828800"/>
            <a:ext cx="2651751" cy="280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Entropy-based uncertainty scoring</a:t>
            </a:r>
            <a:endParaRPr/>
          </a:p>
        </p:txBody>
      </p:sp>
      <p:sp>
        <p:nvSpPr>
          <p:cNvPr id="845" name="Google Shape;845;p35"/>
          <p:cNvSpPr/>
          <p:nvPr/>
        </p:nvSpPr>
        <p:spPr>
          <a:xfrm>
            <a:off x="548640" y="3401567"/>
            <a:ext cx="384049" cy="384049"/>
          </a:xfrm>
          <a:prstGeom prst="ellipse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5"/>
          <p:cNvSpPr txBox="1"/>
          <p:nvPr/>
        </p:nvSpPr>
        <p:spPr>
          <a:xfrm>
            <a:off x="594365" y="3410711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/>
          </a:p>
        </p:txBody>
      </p:sp>
      <p:sp>
        <p:nvSpPr>
          <p:cNvPr id="847" name="Google Shape;847;p35"/>
          <p:cNvSpPr txBox="1"/>
          <p:nvPr/>
        </p:nvSpPr>
        <p:spPr>
          <a:xfrm>
            <a:off x="1097285" y="3310128"/>
            <a:ext cx="26517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Classifier-based routing (lightweight ML)</a:t>
            </a:r>
            <a:endParaRPr/>
          </a:p>
        </p:txBody>
      </p:sp>
      <p:sp>
        <p:nvSpPr>
          <p:cNvPr id="848" name="Google Shape;848;p35"/>
          <p:cNvSpPr/>
          <p:nvPr/>
        </p:nvSpPr>
        <p:spPr>
          <a:xfrm>
            <a:off x="548640" y="4882896"/>
            <a:ext cx="384049" cy="384049"/>
          </a:xfrm>
          <a:prstGeom prst="ellipse">
            <a:avLst/>
          </a:prstGeom>
          <a:solidFill>
            <a:srgbClr val="15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5"/>
          <p:cNvSpPr txBox="1"/>
          <p:nvPr/>
        </p:nvSpPr>
        <p:spPr>
          <a:xfrm>
            <a:off x="594365" y="4892040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/>
          </a:p>
        </p:txBody>
      </p:sp>
      <p:sp>
        <p:nvSpPr>
          <p:cNvPr id="850" name="Google Shape;850;p35"/>
          <p:cNvSpPr txBox="1"/>
          <p:nvPr/>
        </p:nvSpPr>
        <p:spPr>
          <a:xfrm>
            <a:off x="1097285" y="4791455"/>
            <a:ext cx="26517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565C0"/>
                </a:solidFill>
                <a:latin typeface="Calibri"/>
                <a:ea typeface="Calibri"/>
                <a:cs typeface="Calibri"/>
                <a:sym typeface="Calibri"/>
              </a:rPr>
              <a:t>Broader benchmarks (GLUE, SuperGLUE)</a:t>
            </a:r>
            <a:endParaRPr/>
          </a:p>
        </p:txBody>
      </p:sp>
      <p:sp>
        <p:nvSpPr>
          <p:cNvPr id="851" name="Google Shape;851;p35"/>
          <p:cNvSpPr/>
          <p:nvPr/>
        </p:nvSpPr>
        <p:spPr>
          <a:xfrm>
            <a:off x="4297679" y="960119"/>
            <a:ext cx="3657601" cy="534924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4297679" y="960119"/>
            <a:ext cx="3657601" cy="59436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5"/>
          <p:cNvSpPr txBox="1"/>
          <p:nvPr/>
        </p:nvSpPr>
        <p:spPr>
          <a:xfrm>
            <a:off x="4434844" y="1005839"/>
            <a:ext cx="33832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Mid-Term</a:t>
            </a:r>
            <a:endParaRPr/>
          </a:p>
        </p:txBody>
      </p:sp>
      <p:sp>
        <p:nvSpPr>
          <p:cNvPr id="854" name="Google Shape;854;p35"/>
          <p:cNvSpPr/>
          <p:nvPr/>
        </p:nvSpPr>
        <p:spPr>
          <a:xfrm>
            <a:off x="4526279" y="1920239"/>
            <a:ext cx="384049" cy="384049"/>
          </a:xfrm>
          <a:prstGeom prst="ellipse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5"/>
          <p:cNvSpPr txBox="1"/>
          <p:nvPr/>
        </p:nvSpPr>
        <p:spPr>
          <a:xfrm>
            <a:off x="4572004" y="1929383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/>
          </a:p>
        </p:txBody>
      </p:sp>
      <p:sp>
        <p:nvSpPr>
          <p:cNvPr id="856" name="Google Shape;856;p35"/>
          <p:cNvSpPr txBox="1"/>
          <p:nvPr/>
        </p:nvSpPr>
        <p:spPr>
          <a:xfrm>
            <a:off x="5074923" y="1828800"/>
            <a:ext cx="2651751" cy="509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RL-driven adaptive routing thresholds</a:t>
            </a:r>
            <a:endParaRPr/>
          </a:p>
        </p:txBody>
      </p:sp>
      <p:sp>
        <p:nvSpPr>
          <p:cNvPr id="857" name="Google Shape;857;p35"/>
          <p:cNvSpPr/>
          <p:nvPr/>
        </p:nvSpPr>
        <p:spPr>
          <a:xfrm>
            <a:off x="4526279" y="3401567"/>
            <a:ext cx="384049" cy="384049"/>
          </a:xfrm>
          <a:prstGeom prst="ellipse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 txBox="1"/>
          <p:nvPr/>
        </p:nvSpPr>
        <p:spPr>
          <a:xfrm>
            <a:off x="4572004" y="3410711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/>
          </a:p>
        </p:txBody>
      </p:sp>
      <p:sp>
        <p:nvSpPr>
          <p:cNvPr id="859" name="Google Shape;859;p35"/>
          <p:cNvSpPr txBox="1"/>
          <p:nvPr/>
        </p:nvSpPr>
        <p:spPr>
          <a:xfrm>
            <a:off x="5074923" y="3310128"/>
            <a:ext cx="26517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Quantized edge models (4-bit, 8-bit)</a:t>
            </a:r>
            <a:endParaRPr/>
          </a:p>
        </p:txBody>
      </p:sp>
      <p:sp>
        <p:nvSpPr>
          <p:cNvPr id="860" name="Google Shape;860;p35"/>
          <p:cNvSpPr/>
          <p:nvPr/>
        </p:nvSpPr>
        <p:spPr>
          <a:xfrm>
            <a:off x="4526279" y="4882896"/>
            <a:ext cx="384049" cy="384049"/>
          </a:xfrm>
          <a:prstGeom prst="ellipse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 txBox="1"/>
          <p:nvPr/>
        </p:nvSpPr>
        <p:spPr>
          <a:xfrm>
            <a:off x="4572004" y="4892040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/>
          </a:p>
        </p:txBody>
      </p:sp>
      <p:sp>
        <p:nvSpPr>
          <p:cNvPr id="862" name="Google Shape;862;p35"/>
          <p:cNvSpPr txBox="1"/>
          <p:nvPr/>
        </p:nvSpPr>
        <p:spPr>
          <a:xfrm>
            <a:off x="5074923" y="4791455"/>
            <a:ext cx="2651751" cy="509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38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838F"/>
                </a:solidFill>
                <a:latin typeface="Calibri"/>
                <a:ea typeface="Calibri"/>
                <a:cs typeface="Calibri"/>
                <a:sym typeface="Calibri"/>
              </a:rPr>
              <a:t>On-device fine-tuning for personalization</a:t>
            </a:r>
            <a:endParaRPr/>
          </a:p>
        </p:txBody>
      </p:sp>
      <p:sp>
        <p:nvSpPr>
          <p:cNvPr id="863" name="Google Shape;863;p35"/>
          <p:cNvSpPr/>
          <p:nvPr/>
        </p:nvSpPr>
        <p:spPr>
          <a:xfrm>
            <a:off x="8275318" y="960119"/>
            <a:ext cx="3657601" cy="534924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35"/>
          <p:cNvSpPr/>
          <p:nvPr/>
        </p:nvSpPr>
        <p:spPr>
          <a:xfrm>
            <a:off x="8275318" y="960119"/>
            <a:ext cx="3657601" cy="594361"/>
          </a:xfrm>
          <a:prstGeom prst="rect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5"/>
          <p:cNvSpPr txBox="1"/>
          <p:nvPr/>
        </p:nvSpPr>
        <p:spPr>
          <a:xfrm>
            <a:off x="8412484" y="1005839"/>
            <a:ext cx="3383271" cy="358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Long-Term</a:t>
            </a:r>
            <a:endParaRPr/>
          </a:p>
        </p:txBody>
      </p:sp>
      <p:sp>
        <p:nvSpPr>
          <p:cNvPr id="866" name="Google Shape;866;p35"/>
          <p:cNvSpPr/>
          <p:nvPr/>
        </p:nvSpPr>
        <p:spPr>
          <a:xfrm>
            <a:off x="8503918" y="1920239"/>
            <a:ext cx="384049" cy="384049"/>
          </a:xfrm>
          <a:prstGeom prst="ellipse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5"/>
          <p:cNvSpPr txBox="1"/>
          <p:nvPr/>
        </p:nvSpPr>
        <p:spPr>
          <a:xfrm>
            <a:off x="8549644" y="1929383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/>
          </a:p>
        </p:txBody>
      </p:sp>
      <p:sp>
        <p:nvSpPr>
          <p:cNvPr id="868" name="Google Shape;868;p35"/>
          <p:cNvSpPr txBox="1"/>
          <p:nvPr/>
        </p:nvSpPr>
        <p:spPr>
          <a:xfrm>
            <a:off x="9052565" y="1828800"/>
            <a:ext cx="2651751" cy="509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Multimodal: text + vision + audio split</a:t>
            </a:r>
            <a:endParaRPr/>
          </a:p>
        </p:txBody>
      </p:sp>
      <p:sp>
        <p:nvSpPr>
          <p:cNvPr id="869" name="Google Shape;869;p35"/>
          <p:cNvSpPr/>
          <p:nvPr/>
        </p:nvSpPr>
        <p:spPr>
          <a:xfrm>
            <a:off x="8503918" y="3401567"/>
            <a:ext cx="384049" cy="384049"/>
          </a:xfrm>
          <a:prstGeom prst="ellipse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5"/>
          <p:cNvSpPr txBox="1"/>
          <p:nvPr/>
        </p:nvSpPr>
        <p:spPr>
          <a:xfrm>
            <a:off x="8549644" y="3410711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/>
          </a:p>
        </p:txBody>
      </p:sp>
      <p:sp>
        <p:nvSpPr>
          <p:cNvPr id="871" name="Google Shape;871;p35"/>
          <p:cNvSpPr txBox="1"/>
          <p:nvPr/>
        </p:nvSpPr>
        <p:spPr>
          <a:xfrm>
            <a:off x="9052565" y="3310128"/>
            <a:ext cx="2651751" cy="28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Federated edge network inference</a:t>
            </a:r>
            <a:endParaRPr/>
          </a:p>
        </p:txBody>
      </p:sp>
      <p:sp>
        <p:nvSpPr>
          <p:cNvPr id="872" name="Google Shape;872;p35"/>
          <p:cNvSpPr/>
          <p:nvPr/>
        </p:nvSpPr>
        <p:spPr>
          <a:xfrm>
            <a:off x="8503918" y="4882896"/>
            <a:ext cx="384049" cy="384049"/>
          </a:xfrm>
          <a:prstGeom prst="ellipse">
            <a:avLst/>
          </a:prstGeom>
          <a:solidFill>
            <a:srgbClr val="7B1FA2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5"/>
          <p:cNvSpPr txBox="1"/>
          <p:nvPr/>
        </p:nvSpPr>
        <p:spPr>
          <a:xfrm>
            <a:off x="8549644" y="4892040"/>
            <a:ext cx="292599" cy="2819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/>
          </a:p>
        </p:txBody>
      </p:sp>
      <p:sp>
        <p:nvSpPr>
          <p:cNvPr id="874" name="Google Shape;874;p35"/>
          <p:cNvSpPr txBox="1"/>
          <p:nvPr/>
        </p:nvSpPr>
        <p:spPr>
          <a:xfrm>
            <a:off x="9052565" y="4791455"/>
            <a:ext cx="2651751" cy="280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1FA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7B1FA2"/>
                </a:solidFill>
                <a:latin typeface="Calibri"/>
                <a:ea typeface="Calibri"/>
                <a:cs typeface="Calibri"/>
                <a:sym typeface="Calibri"/>
              </a:rPr>
              <a:t>Token-level streaming routing</a:t>
            </a:r>
            <a:endParaRPr/>
          </a:p>
        </p:txBody>
      </p:sp>
      <p:sp>
        <p:nvSpPr>
          <p:cNvPr id="875" name="Google Shape;875;p35"/>
          <p:cNvSpPr/>
          <p:nvPr/>
        </p:nvSpPr>
        <p:spPr>
          <a:xfrm>
            <a:off x="-1" y="6473952"/>
            <a:ext cx="12188954" cy="384049"/>
          </a:xfrm>
          <a:prstGeom prst="rect">
            <a:avLst/>
          </a:prstGeom>
          <a:solidFill>
            <a:srgbClr val="F0F7F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5"/>
          <p:cNvSpPr txBox="1"/>
          <p:nvPr/>
        </p:nvSpPr>
        <p:spPr>
          <a:xfrm>
            <a:off x="320044" y="6510528"/>
            <a:ext cx="11548851" cy="225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6E7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46E7A"/>
                </a:solidFill>
                <a:latin typeface="Calibri"/>
                <a:ea typeface="Calibri"/>
                <a:cs typeface="Calibri"/>
                <a:sym typeface="Calibri"/>
              </a:rPr>
              <a:t>The modular architecture makes upgrading any component straightforward - research can iterate independently.</a:t>
            </a:r>
            <a:endParaRPr/>
          </a:p>
        </p:txBody>
      </p:sp>
      <p:pic>
        <p:nvPicPr>
          <p:cNvPr descr="Picture 711" id="877" name="Google Shape;87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7711" y="2359151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2" id="878" name="Google Shape;87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5352" y="2359151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3" id="879" name="Google Shape;879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22992" y="2359151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4" id="880" name="Google Shape;880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67711" y="3840479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5" id="881" name="Google Shape;881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5352" y="3840479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6" id="882" name="Google Shape;882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222992" y="3840479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7" id="883" name="Google Shape;883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67711" y="5321808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8" id="884" name="Google Shape;884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45352" y="5321808"/>
            <a:ext cx="1417321" cy="6400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cture 719" id="885" name="Google Shape;885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22992" y="5321808"/>
            <a:ext cx="1417321" cy="640081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35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6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36"/>
          <p:cNvSpPr/>
          <p:nvPr/>
        </p:nvSpPr>
        <p:spPr>
          <a:xfrm>
            <a:off x="-1" y="-1"/>
            <a:ext cx="12188954" cy="822962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36"/>
          <p:cNvSpPr txBox="1"/>
          <p:nvPr/>
        </p:nvSpPr>
        <p:spPr>
          <a:xfrm>
            <a:off x="365760" y="91440"/>
            <a:ext cx="11457432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Broader Impact - Why This Matters Beyond the Paper</a:t>
            </a:r>
            <a:endParaRPr/>
          </a:p>
        </p:txBody>
      </p:sp>
      <p:sp>
        <p:nvSpPr>
          <p:cNvPr id="894" name="Google Shape;894;p36"/>
          <p:cNvSpPr/>
          <p:nvPr/>
        </p:nvSpPr>
        <p:spPr>
          <a:xfrm>
            <a:off x="320040" y="960119"/>
            <a:ext cx="3749040" cy="5349242"/>
          </a:xfrm>
          <a:prstGeom prst="rect">
            <a:avLst/>
          </a:prstGeom>
          <a:solidFill>
            <a:srgbClr val="FDEBEB"/>
          </a:solidFill>
          <a:ln cap="flat" cmpd="sng" w="9525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5" name="Google Shape;895;p36"/>
          <p:cNvGrpSpPr/>
          <p:nvPr/>
        </p:nvGrpSpPr>
        <p:grpSpPr>
          <a:xfrm>
            <a:off x="320040" y="960118"/>
            <a:ext cx="3749041" cy="502922"/>
            <a:chOff x="0" y="-1"/>
            <a:chExt cx="3749039" cy="502921"/>
          </a:xfrm>
        </p:grpSpPr>
        <p:sp>
          <p:nvSpPr>
            <p:cNvPr id="896" name="Google Shape;896;p36"/>
            <p:cNvSpPr/>
            <p:nvPr/>
          </p:nvSpPr>
          <p:spPr>
            <a:xfrm>
              <a:off x="0" y="-1"/>
              <a:ext cx="3749039" cy="502921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36"/>
            <p:cNvSpPr txBox="1"/>
            <p:nvPr/>
          </p:nvSpPr>
          <p:spPr>
            <a:xfrm>
              <a:off x="27432" y="90677"/>
              <a:ext cx="3694175" cy="321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🏥  </a:t>
              </a:r>
              <a:r>
                <a:rPr b="1" i="0" lang="en-US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Healthcare</a:t>
              </a:r>
              <a:endParaRPr/>
            </a:p>
          </p:txBody>
        </p:sp>
      </p:grpSp>
      <p:sp>
        <p:nvSpPr>
          <p:cNvPr id="898" name="Google Shape;898;p36"/>
          <p:cNvSpPr txBox="1"/>
          <p:nvPr/>
        </p:nvSpPr>
        <p:spPr>
          <a:xfrm>
            <a:off x="475486" y="1572767"/>
            <a:ext cx="3474720" cy="59694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Diagnosis aids stay on-device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HIPAA-compliant  |  No data leakage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Works in rural / offline clinics</a:t>
            </a:r>
            <a:endParaRPr/>
          </a:p>
        </p:txBody>
      </p:sp>
      <p:pic>
        <p:nvPicPr>
          <p:cNvPr descr="Picture 721" id="899" name="Google Shape;89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953511"/>
            <a:ext cx="3108961" cy="33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36"/>
          <p:cNvSpPr/>
          <p:nvPr/>
        </p:nvSpPr>
        <p:spPr>
          <a:xfrm>
            <a:off x="4343400" y="960119"/>
            <a:ext cx="3749039" cy="5349242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1765C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1" name="Google Shape;901;p36"/>
          <p:cNvGrpSpPr/>
          <p:nvPr/>
        </p:nvGrpSpPr>
        <p:grpSpPr>
          <a:xfrm>
            <a:off x="4343400" y="960118"/>
            <a:ext cx="3749040" cy="502922"/>
            <a:chOff x="0" y="-1"/>
            <a:chExt cx="3749039" cy="502921"/>
          </a:xfrm>
        </p:grpSpPr>
        <p:sp>
          <p:nvSpPr>
            <p:cNvPr id="902" name="Google Shape;902;p36"/>
            <p:cNvSpPr/>
            <p:nvPr/>
          </p:nvSpPr>
          <p:spPr>
            <a:xfrm>
              <a:off x="0" y="-1"/>
              <a:ext cx="3749039" cy="502921"/>
            </a:xfrm>
            <a:prstGeom prst="rect">
              <a:avLst/>
            </a:prstGeom>
            <a:solidFill>
              <a:srgbClr val="1765C0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36"/>
            <p:cNvSpPr txBox="1"/>
            <p:nvPr/>
          </p:nvSpPr>
          <p:spPr>
            <a:xfrm>
              <a:off x="27432" y="90677"/>
              <a:ext cx="3694175" cy="321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📚  </a:t>
              </a:r>
              <a:r>
                <a:rPr b="1" i="0" lang="en-US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Education</a:t>
              </a:r>
              <a:endParaRPr/>
            </a:p>
          </p:txBody>
        </p:sp>
      </p:grpSp>
      <p:sp>
        <p:nvSpPr>
          <p:cNvPr id="904" name="Google Shape;904;p36"/>
          <p:cNvSpPr txBox="1"/>
          <p:nvPr/>
        </p:nvSpPr>
        <p:spPr>
          <a:xfrm>
            <a:off x="4498848" y="1572767"/>
            <a:ext cx="3474720" cy="59694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Offline tutoring on $30 devices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Zero cloud cost for schools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Personalized at the edge</a:t>
            </a:r>
            <a:endParaRPr/>
          </a:p>
        </p:txBody>
      </p:sp>
      <p:pic>
        <p:nvPicPr>
          <p:cNvPr descr="Picture 725" id="905" name="Google Shape;90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2953511"/>
            <a:ext cx="3108961" cy="33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36"/>
          <p:cNvSpPr/>
          <p:nvPr/>
        </p:nvSpPr>
        <p:spPr>
          <a:xfrm>
            <a:off x="8366759" y="960119"/>
            <a:ext cx="3749040" cy="5349242"/>
          </a:xfrm>
          <a:prstGeom prst="rect">
            <a:avLst/>
          </a:prstGeom>
          <a:solidFill>
            <a:srgbClr val="FFF3E0"/>
          </a:solidFill>
          <a:ln cap="flat" cmpd="sng" w="9525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Google Shape;907;p36"/>
          <p:cNvGrpSpPr/>
          <p:nvPr/>
        </p:nvGrpSpPr>
        <p:grpSpPr>
          <a:xfrm>
            <a:off x="8366759" y="960118"/>
            <a:ext cx="3749041" cy="502922"/>
            <a:chOff x="0" y="-1"/>
            <a:chExt cx="3749039" cy="502921"/>
          </a:xfrm>
        </p:grpSpPr>
        <p:sp>
          <p:nvSpPr>
            <p:cNvPr id="908" name="Google Shape;908;p36"/>
            <p:cNvSpPr/>
            <p:nvPr/>
          </p:nvSpPr>
          <p:spPr>
            <a:xfrm>
              <a:off x="0" y="-1"/>
              <a:ext cx="3749039" cy="502921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36"/>
            <p:cNvSpPr txBox="1"/>
            <p:nvPr/>
          </p:nvSpPr>
          <p:spPr>
            <a:xfrm>
              <a:off x="27432" y="90677"/>
              <a:ext cx="3694175" cy="3215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00"/>
                <a:buFont typeface="Helvetica Neue"/>
                <a:buNone/>
              </a:pPr>
              <a:r>
                <a:rPr b="1" i="0" lang="en-US" sz="13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🚗  </a:t>
              </a:r>
              <a:r>
                <a:rPr b="1" i="0" lang="en-US" sz="13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Automotive</a:t>
              </a:r>
              <a:endParaRPr/>
            </a:p>
          </p:txBody>
        </p:sp>
      </p:grpSp>
      <p:sp>
        <p:nvSpPr>
          <p:cNvPr id="910" name="Google Shape;910;p36"/>
          <p:cNvSpPr txBox="1"/>
          <p:nvPr/>
        </p:nvSpPr>
        <p:spPr>
          <a:xfrm>
            <a:off x="8522207" y="1572767"/>
            <a:ext cx="3474720" cy="596947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&lt;50ms reaction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No internet needed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455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445566"/>
                </a:solidFill>
                <a:latin typeface="Arial"/>
                <a:ea typeface="Arial"/>
                <a:cs typeface="Arial"/>
                <a:sym typeface="Arial"/>
              </a:rPr>
              <a:t>  ▸  Always-on co-pilot</a:t>
            </a:r>
            <a:endParaRPr/>
          </a:p>
        </p:txBody>
      </p:sp>
      <p:pic>
        <p:nvPicPr>
          <p:cNvPr descr="Picture 729" id="911" name="Google Shape;9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0" y="2953511"/>
            <a:ext cx="3108961" cy="3319273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36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37"/>
          <p:cNvSpPr/>
          <p:nvPr/>
        </p:nvSpPr>
        <p:spPr>
          <a:xfrm>
            <a:off x="-1" y="0"/>
            <a:ext cx="12188954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7"/>
          <p:cNvSpPr/>
          <p:nvPr/>
        </p:nvSpPr>
        <p:spPr>
          <a:xfrm>
            <a:off x="-1" y="0"/>
            <a:ext cx="164594" cy="6858000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7"/>
          <p:cNvSpPr/>
          <p:nvPr/>
        </p:nvSpPr>
        <p:spPr>
          <a:xfrm>
            <a:off x="-1" y="5943600"/>
            <a:ext cx="12188954" cy="914400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7"/>
          <p:cNvSpPr txBox="1"/>
          <p:nvPr/>
        </p:nvSpPr>
        <p:spPr>
          <a:xfrm>
            <a:off x="411485" y="274320"/>
            <a:ext cx="9966950" cy="599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4FC3F7"/>
                </a:solidFill>
                <a:latin typeface="Trebuchet MS"/>
                <a:ea typeface="Trebuchet MS"/>
                <a:cs typeface="Trebuchet MS"/>
                <a:sym typeface="Trebuchet MS"/>
              </a:rPr>
              <a:t>Conclusion</a:t>
            </a:r>
            <a:endParaRPr/>
          </a:p>
        </p:txBody>
      </p:sp>
      <p:sp>
        <p:nvSpPr>
          <p:cNvPr id="921" name="Google Shape;921;p37"/>
          <p:cNvSpPr/>
          <p:nvPr/>
        </p:nvSpPr>
        <p:spPr>
          <a:xfrm>
            <a:off x="365759" y="1097280"/>
            <a:ext cx="6400801" cy="45721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7"/>
          <p:cNvSpPr txBox="1"/>
          <p:nvPr/>
        </p:nvSpPr>
        <p:spPr>
          <a:xfrm>
            <a:off x="502925" y="1325880"/>
            <a:ext cx="11338550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Hybrid edge-cloud inference is practical, scalable, and production-ready.</a:t>
            </a:r>
            <a:endParaRPr/>
          </a:p>
        </p:txBody>
      </p:sp>
      <p:sp>
        <p:nvSpPr>
          <p:cNvPr id="923" name="Google Shape;923;p37"/>
          <p:cNvSpPr txBox="1"/>
          <p:nvPr/>
        </p:nvSpPr>
        <p:spPr>
          <a:xfrm>
            <a:off x="502925" y="2103120"/>
            <a:ext cx="11338550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→  Confidence-based routing effectively separates simple vs. complex prompts.</a:t>
            </a:r>
            <a:endParaRPr/>
          </a:p>
        </p:txBody>
      </p:sp>
      <p:sp>
        <p:nvSpPr>
          <p:cNvPr id="924" name="Google Shape;924;p37"/>
          <p:cNvSpPr txBox="1"/>
          <p:nvPr/>
        </p:nvSpPr>
        <p:spPr>
          <a:xfrm>
            <a:off x="502925" y="2880360"/>
            <a:ext cx="11338550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DistilGPT2 + GPT-4o-mini together outperform either model alone.</a:t>
            </a:r>
            <a:endParaRPr/>
          </a:p>
        </p:txBody>
      </p:sp>
      <p:sp>
        <p:nvSpPr>
          <p:cNvPr id="925" name="Google Shape;925;p37"/>
          <p:cNvSpPr txBox="1"/>
          <p:nvPr/>
        </p:nvSpPr>
        <p:spPr>
          <a:xfrm>
            <a:off x="502925" y="3657600"/>
            <a:ext cx="11338550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CAF9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0CAF9"/>
                </a:solidFill>
                <a:latin typeface="Calibri"/>
                <a:ea typeface="Calibri"/>
                <a:cs typeface="Calibri"/>
                <a:sym typeface="Calibri"/>
              </a:rPr>
              <a:t>→  0.85s (edge) vs 2.65s (hybrid) - quality gains justify the latency cost.</a:t>
            </a:r>
            <a:endParaRPr/>
          </a:p>
        </p:txBody>
      </p:sp>
      <p:sp>
        <p:nvSpPr>
          <p:cNvPr id="926" name="Google Shape;926;p37"/>
          <p:cNvSpPr txBox="1"/>
          <p:nvPr/>
        </p:nvSpPr>
        <p:spPr>
          <a:xfrm>
            <a:off x="502925" y="4434840"/>
            <a:ext cx="11338550" cy="277957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 Split execution is the future of on-device LLM deployment.</a:t>
            </a:r>
            <a:endParaRPr/>
          </a:p>
        </p:txBody>
      </p:sp>
      <p:sp>
        <p:nvSpPr>
          <p:cNvPr id="927" name="Google Shape;927;p37"/>
          <p:cNvSpPr/>
          <p:nvPr/>
        </p:nvSpPr>
        <p:spPr>
          <a:xfrm>
            <a:off x="457199" y="5303520"/>
            <a:ext cx="11247122" cy="1005840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C5D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7"/>
          <p:cNvSpPr/>
          <p:nvPr/>
        </p:nvSpPr>
        <p:spPr>
          <a:xfrm>
            <a:off x="457200" y="5303520"/>
            <a:ext cx="109728" cy="1005840"/>
          </a:xfrm>
          <a:prstGeom prst="rect">
            <a:avLst/>
          </a:prstGeom>
          <a:solidFill>
            <a:srgbClr val="00838F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7"/>
          <p:cNvSpPr txBox="1"/>
          <p:nvPr/>
        </p:nvSpPr>
        <p:spPr>
          <a:xfrm>
            <a:off x="731524" y="5413247"/>
            <a:ext cx="10789851" cy="300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"The best AI system isn't the biggest one - it's the one that knows when to ask for help."</a:t>
            </a:r>
            <a:endParaRPr/>
          </a:p>
        </p:txBody>
      </p:sp>
      <p:sp>
        <p:nvSpPr>
          <p:cNvPr id="930" name="Google Shape;930;p37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8"/>
          <p:cNvSpPr/>
          <p:nvPr/>
        </p:nvSpPr>
        <p:spPr>
          <a:xfrm>
            <a:off x="-4827" y="0"/>
            <a:ext cx="12188954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7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38"/>
          <p:cNvSpPr/>
          <p:nvPr/>
        </p:nvSpPr>
        <p:spPr>
          <a:xfrm>
            <a:off x="-1" y="6309359"/>
            <a:ext cx="12188954" cy="548641"/>
          </a:xfrm>
          <a:prstGeom prst="rect">
            <a:avLst/>
          </a:prstGeom>
          <a:solidFill>
            <a:srgbClr val="1B3A6B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38"/>
          <p:cNvSpPr txBox="1"/>
          <p:nvPr/>
        </p:nvSpPr>
        <p:spPr>
          <a:xfrm>
            <a:off x="457200" y="411480"/>
            <a:ext cx="8138160" cy="942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939" name="Google Shape;939;p38"/>
          <p:cNvSpPr txBox="1"/>
          <p:nvPr/>
        </p:nvSpPr>
        <p:spPr>
          <a:xfrm>
            <a:off x="457200" y="1508760"/>
            <a:ext cx="9052560" cy="288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Distributed Inference for On-Device LLMs  -  Edge-Cloud Split Execution</a:t>
            </a:r>
            <a:endParaRPr/>
          </a:p>
        </p:txBody>
      </p:sp>
      <p:sp>
        <p:nvSpPr>
          <p:cNvPr id="940" name="Google Shape;940;p38"/>
          <p:cNvSpPr/>
          <p:nvPr/>
        </p:nvSpPr>
        <p:spPr>
          <a:xfrm>
            <a:off x="411480" y="1993392"/>
            <a:ext cx="7772401" cy="36577"/>
          </a:xfrm>
          <a:prstGeom prst="rect">
            <a:avLst/>
          </a:prstGeom>
          <a:solidFill>
            <a:srgbClr val="1765C0"/>
          </a:solidFill>
          <a:ln>
            <a:noFill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38"/>
          <p:cNvSpPr txBox="1"/>
          <p:nvPr/>
        </p:nvSpPr>
        <p:spPr>
          <a:xfrm>
            <a:off x="457200" y="2121407"/>
            <a:ext cx="6309360" cy="4125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D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00B0D0"/>
                </a:solidFill>
                <a:latin typeface="Arial"/>
                <a:ea typeface="Arial"/>
                <a:cs typeface="Arial"/>
                <a:sym typeface="Arial"/>
              </a:rPr>
              <a:t>Open for Questions  &amp;  Discussion</a:t>
            </a:r>
            <a:endParaRPr/>
          </a:p>
        </p:txBody>
      </p:sp>
      <p:grpSp>
        <p:nvGrpSpPr>
          <p:cNvPr id="942" name="Google Shape;942;p38"/>
          <p:cNvGrpSpPr/>
          <p:nvPr/>
        </p:nvGrpSpPr>
        <p:grpSpPr>
          <a:xfrm>
            <a:off x="411480" y="2834639"/>
            <a:ext cx="11338561" cy="256034"/>
            <a:chOff x="0" y="0"/>
            <a:chExt cx="11338560" cy="256032"/>
          </a:xfrm>
        </p:grpSpPr>
        <p:sp>
          <p:nvSpPr>
            <p:cNvPr id="943" name="Google Shape;943;p38"/>
            <p:cNvSpPr/>
            <p:nvPr/>
          </p:nvSpPr>
          <p:spPr>
            <a:xfrm>
              <a:off x="0" y="0"/>
              <a:ext cx="11338560" cy="256032"/>
            </a:xfrm>
            <a:prstGeom prst="rect">
              <a:avLst/>
            </a:prstGeom>
            <a:solidFill>
              <a:srgbClr val="1B3A6B"/>
            </a:solidFill>
            <a:ln>
              <a:noFill/>
            </a:ln>
            <a:effectLst>
              <a:outerShdw blurRad="381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38"/>
            <p:cNvSpPr txBox="1"/>
            <p:nvPr/>
          </p:nvSpPr>
          <p:spPr>
            <a:xfrm>
              <a:off x="27432" y="32811"/>
              <a:ext cx="11283696" cy="190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7425" lIns="27425" spcFirstLastPara="1" rIns="27425" wrap="square" tIns="27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ABBCC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AABBCC"/>
                  </a:solidFill>
                  <a:latin typeface="Arial"/>
                  <a:ea typeface="Arial"/>
                  <a:cs typeface="Arial"/>
                  <a:sym typeface="Arial"/>
                </a:rPr>
                <a:t>KEY TAKEAWAYS</a:t>
              </a:r>
              <a:endParaRPr/>
            </a:p>
          </p:txBody>
        </p:sp>
      </p:grpSp>
      <p:sp>
        <p:nvSpPr>
          <p:cNvPr id="945" name="Google Shape;945;p38"/>
          <p:cNvSpPr/>
          <p:nvPr/>
        </p:nvSpPr>
        <p:spPr>
          <a:xfrm>
            <a:off x="438912" y="3127248"/>
            <a:ext cx="2743201" cy="1097281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1765C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38"/>
          <p:cNvSpPr txBox="1"/>
          <p:nvPr/>
        </p:nvSpPr>
        <p:spPr>
          <a:xfrm>
            <a:off x="438912" y="3145535"/>
            <a:ext cx="2743201" cy="4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D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B0D0"/>
                </a:solidFill>
                <a:latin typeface="Arial"/>
                <a:ea typeface="Arial"/>
                <a:cs typeface="Arial"/>
                <a:sym typeface="Arial"/>
              </a:rPr>
              <a:t>3x</a:t>
            </a:r>
            <a:endParaRPr/>
          </a:p>
        </p:txBody>
      </p:sp>
      <p:sp>
        <p:nvSpPr>
          <p:cNvPr id="947" name="Google Shape;947;p38"/>
          <p:cNvSpPr txBox="1"/>
          <p:nvPr/>
        </p:nvSpPr>
        <p:spPr>
          <a:xfrm>
            <a:off x="484631" y="3712462"/>
            <a:ext cx="2651762" cy="36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Edge is 3x faster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than cloud alone</a:t>
            </a:r>
            <a:endParaRPr/>
          </a:p>
        </p:txBody>
      </p:sp>
      <p:sp>
        <p:nvSpPr>
          <p:cNvPr id="948" name="Google Shape;948;p38"/>
          <p:cNvSpPr/>
          <p:nvPr/>
        </p:nvSpPr>
        <p:spPr>
          <a:xfrm>
            <a:off x="3291840" y="3127248"/>
            <a:ext cx="2743201" cy="1097281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1765C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8"/>
          <p:cNvSpPr txBox="1"/>
          <p:nvPr/>
        </p:nvSpPr>
        <p:spPr>
          <a:xfrm>
            <a:off x="3291840" y="3145535"/>
            <a:ext cx="2743201" cy="4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D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B0D0"/>
                </a:solidFill>
                <a:latin typeface="Arial"/>
                <a:ea typeface="Arial"/>
                <a:cs typeface="Arial"/>
                <a:sym typeface="Arial"/>
              </a:rPr>
              <a:t>82M</a:t>
            </a:r>
            <a:endParaRPr/>
          </a:p>
        </p:txBody>
      </p:sp>
      <p:sp>
        <p:nvSpPr>
          <p:cNvPr id="950" name="Google Shape;950;p38"/>
          <p:cNvSpPr txBox="1"/>
          <p:nvPr/>
        </p:nvSpPr>
        <p:spPr>
          <a:xfrm>
            <a:off x="3337560" y="3712462"/>
            <a:ext cx="2651761" cy="36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DistilGPT2 runs 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any CPU - no GPU</a:t>
            </a:r>
            <a:endParaRPr/>
          </a:p>
        </p:txBody>
      </p:sp>
      <p:sp>
        <p:nvSpPr>
          <p:cNvPr id="951" name="Google Shape;951;p38"/>
          <p:cNvSpPr/>
          <p:nvPr/>
        </p:nvSpPr>
        <p:spPr>
          <a:xfrm>
            <a:off x="6144767" y="3127248"/>
            <a:ext cx="2743201" cy="1097281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1765C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8"/>
          <p:cNvSpPr txBox="1"/>
          <p:nvPr/>
        </p:nvSpPr>
        <p:spPr>
          <a:xfrm>
            <a:off x="6144767" y="3145535"/>
            <a:ext cx="2743201" cy="4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D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B0D0"/>
                </a:solidFill>
                <a:latin typeface="Arial"/>
                <a:ea typeface="Arial"/>
                <a:cs typeface="Arial"/>
                <a:sym typeface="Arial"/>
              </a:rPr>
              <a:t>~80%</a:t>
            </a:r>
            <a:endParaRPr/>
          </a:p>
        </p:txBody>
      </p:sp>
      <p:sp>
        <p:nvSpPr>
          <p:cNvPr id="953" name="Google Shape;953;p38"/>
          <p:cNvSpPr txBox="1"/>
          <p:nvPr/>
        </p:nvSpPr>
        <p:spPr>
          <a:xfrm>
            <a:off x="6190488" y="3712462"/>
            <a:ext cx="2651761" cy="36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Prompts route 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cloud for quality</a:t>
            </a:r>
            <a:endParaRPr/>
          </a:p>
        </p:txBody>
      </p:sp>
      <p:sp>
        <p:nvSpPr>
          <p:cNvPr id="954" name="Google Shape;954;p38"/>
          <p:cNvSpPr/>
          <p:nvPr/>
        </p:nvSpPr>
        <p:spPr>
          <a:xfrm>
            <a:off x="8997695" y="3127248"/>
            <a:ext cx="2743201" cy="1097281"/>
          </a:xfrm>
          <a:prstGeom prst="rect">
            <a:avLst/>
          </a:prstGeom>
          <a:solidFill>
            <a:srgbClr val="1B3A6B"/>
          </a:solidFill>
          <a:ln cap="flat" cmpd="sng" w="9525">
            <a:solidFill>
              <a:srgbClr val="1765C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8"/>
          <p:cNvSpPr txBox="1"/>
          <p:nvPr/>
        </p:nvSpPr>
        <p:spPr>
          <a:xfrm>
            <a:off x="8997695" y="3145535"/>
            <a:ext cx="2743201" cy="481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D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B0D0"/>
                </a:solidFill>
                <a:latin typeface="Arial"/>
                <a:ea typeface="Arial"/>
                <a:cs typeface="Arial"/>
                <a:sym typeface="Arial"/>
              </a:rPr>
              <a:t>&lt;1ms</a:t>
            </a:r>
            <a:endParaRPr/>
          </a:p>
        </p:txBody>
      </p:sp>
      <p:sp>
        <p:nvSpPr>
          <p:cNvPr id="956" name="Google Shape;956;p38"/>
          <p:cNvSpPr txBox="1"/>
          <p:nvPr/>
        </p:nvSpPr>
        <p:spPr>
          <a:xfrm>
            <a:off x="9043415" y="3712462"/>
            <a:ext cx="2651761" cy="36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Near-zero overhead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BBCC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BCC"/>
                </a:solidFill>
                <a:latin typeface="Arial"/>
                <a:ea typeface="Arial"/>
                <a:cs typeface="Arial"/>
                <a:sym typeface="Arial"/>
              </a:rPr>
              <a:t>routing decision</a:t>
            </a:r>
            <a:endParaRPr/>
          </a:p>
        </p:txBody>
      </p:sp>
      <p:sp>
        <p:nvSpPr>
          <p:cNvPr id="957" name="Google Shape;957;p38"/>
          <p:cNvSpPr txBox="1"/>
          <p:nvPr>
            <p:ph idx="12" type="sldNum"/>
          </p:nvPr>
        </p:nvSpPr>
        <p:spPr>
          <a:xfrm>
            <a:off x="11730016" y="6477055"/>
            <a:ext cx="258600" cy="276900"/>
          </a:xfrm>
          <a:prstGeom prst="rect">
            <a:avLst/>
          </a:prstGeom>
        </p:spPr>
        <p:txBody>
          <a:bodyPr anchorCtr="0" anchor="ctr" bIns="45675" lIns="45675" spcFirstLastPara="1" rIns="45675" wrap="square" tIns="456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